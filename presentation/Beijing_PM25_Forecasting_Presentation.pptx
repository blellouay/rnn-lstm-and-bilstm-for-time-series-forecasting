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BBF64-2B6B-F566-0147-263D0A824E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2B4A73-9581-3E44-7562-A42998663D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919BC-8420-431D-711F-43689FFE0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4D505-1A17-4CA4-8B87-1B3C4420D6FB}" type="datetimeFigureOut">
              <a:rPr lang="fr-FR" smtClean="0"/>
              <a:t>16/10/2026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59E46-0A0F-65B9-F361-0972959FD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29B04-933E-8D94-8FC0-73A0EC600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06416-567D-4D2F-85D8-552AE5052E8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629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3CBEE-698B-3760-3EEF-728BBC9B5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9D94E-AA4E-1533-D878-2ADE8CAE6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FD76D-C235-D090-308D-740206B7A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4D505-1A17-4CA4-8B87-1B3C4420D6FB}" type="datetimeFigureOut">
              <a:rPr lang="fr-FR" smtClean="0"/>
              <a:t>16/10/2026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44B4D-3E43-8A06-780A-F36AE6844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9D92A-A593-0D61-6688-8522B3A37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06416-567D-4D2F-85D8-552AE5052E8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538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438AC-084F-3979-A2D9-6A0CDD4B2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04FE6F-DA9B-D9A4-3466-7DEEE978F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6B1DB-0A38-F96A-3CC0-63A0F3EC1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4D505-1A17-4CA4-8B87-1B3C4420D6FB}" type="datetimeFigureOut">
              <a:rPr lang="fr-FR" smtClean="0"/>
              <a:t>16/10/2026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EE9D0-6232-F188-8791-2404172D3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3F4BF-AC29-9BE0-F96A-AE1DCC43C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06416-567D-4D2F-85D8-552AE5052E8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6993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AB47A-8B49-EAE5-E00D-559B7CE5A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A858B-42B8-6561-07F4-A101DF67D0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BC7E61-81BB-52C3-A176-16DCAD417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750515-AE67-D337-A816-A143471B1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4D505-1A17-4CA4-8B87-1B3C4420D6FB}" type="datetimeFigureOut">
              <a:rPr lang="fr-FR" smtClean="0"/>
              <a:t>16/10/2026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EC92E-FDB8-76C4-0A43-2C6E80067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13E03-9AF3-E17A-C036-5D7095C45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06416-567D-4D2F-85D8-552AE5052E8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4441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3461-6EAD-41E9-3B98-B8BAF53EC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297B9-FFA7-228E-6C10-C83EBB5E1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F2D8B0-417F-20AF-E470-B7BD2B6BD8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8DA115-38B8-A4F8-6312-933053699C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39FC73-7DF2-5D97-A900-E1B793DD2D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4E427A-0E35-D5F5-8F63-EED85C7EA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4D505-1A17-4CA4-8B87-1B3C4420D6FB}" type="datetimeFigureOut">
              <a:rPr lang="fr-FR" smtClean="0"/>
              <a:t>16/10/2026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54427F-C779-DF9C-9520-D592CCF08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DAD9BD-D7CA-FF8C-FC80-F4978F7A6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06416-567D-4D2F-85D8-552AE5052E8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3877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D2BA5-DCA1-6425-6FD0-DB0CEFDCD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E7B1AD-1EC0-5BD9-7D96-403A0F83B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4D505-1A17-4CA4-8B87-1B3C4420D6FB}" type="datetimeFigureOut">
              <a:rPr lang="fr-FR" smtClean="0"/>
              <a:t>16/10/2026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E0CCD9-924D-423B-0171-F46084218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020D48-CC2B-FA0A-2DA2-E3FE1397A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06416-567D-4D2F-85D8-552AE5052E8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0420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19CEB8-3A06-6D61-B6D0-A0D488E06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4D505-1A17-4CA4-8B87-1B3C4420D6FB}" type="datetimeFigureOut">
              <a:rPr lang="fr-FR" smtClean="0"/>
              <a:t>16/10/2026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2A0274-78B2-9368-BA54-439F42F17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79EA72-7350-F0F9-94D3-1F9A8B266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06416-567D-4D2F-85D8-552AE5052E8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8158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B9241-5EF4-F346-DABD-B964477CC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FDB0E-FE6A-A09B-1C0B-C983DF075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725EED-DCAC-C718-A2CC-C23913E7A4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A02D3-D2E2-E52B-3885-6830CA1D5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4D505-1A17-4CA4-8B87-1B3C4420D6FB}" type="datetimeFigureOut">
              <a:rPr lang="fr-FR" smtClean="0"/>
              <a:t>16/10/2026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704CBA-FA8D-E70C-676A-E4719C467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BFCF27-7D0F-CE82-0BE5-59F2706AA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06416-567D-4D2F-85D8-552AE5052E8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8734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B4563-6C04-0CC4-EAB7-780CEF834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865FE3-8A08-0858-0E95-F39367709AF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5533BA-20EE-F8AD-CADA-412370E8E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EE0E0B-CBC0-B6F1-C13E-795185512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4D505-1A17-4CA4-8B87-1B3C4420D6FB}" type="datetimeFigureOut">
              <a:rPr lang="fr-FR" smtClean="0"/>
              <a:t>16/10/2026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98329D-C827-BF79-F20C-74CFB60EA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022E2-C39F-5DE0-3D1C-F4FD411AC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06416-567D-4D2F-85D8-552AE5052E8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7658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5349B-B5C8-C9B1-5F01-795A2AE37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E4A073-20A9-2E51-6544-0B61FCB7B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DC45B-8A3F-E3D4-5210-6C418C9F4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4D505-1A17-4CA4-8B87-1B3C4420D6FB}" type="datetimeFigureOut">
              <a:rPr lang="fr-FR" smtClean="0"/>
              <a:t>16/10/2026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1B696-0347-9758-7695-24D930B61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1CEC2-91DD-5B22-6308-71F0D57CE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06416-567D-4D2F-85D8-552AE5052E8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9235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14061B-4C66-53D3-A11F-8F88D66B59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63FC7D-9FC7-0375-0A3F-578D0667C1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25B79-7715-13E2-E053-97239F482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4D505-1A17-4CA4-8B87-1B3C4420D6FB}" type="datetimeFigureOut">
              <a:rPr lang="fr-FR" smtClean="0"/>
              <a:t>16/10/2026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CBA3B-3CF6-5878-31F0-D7F271528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62D7B-1594-193C-890B-6C85BEBDE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06416-567D-4D2F-85D8-552AE5052E8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4934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72DD2C-8A1D-7229-A84A-F397E705F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236DA-6A57-4414-1DEF-64B6F8369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BA3FA-964D-2ED0-1B0F-81D0E7F6A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84D505-1A17-4CA4-8B87-1B3C4420D6FB}" type="datetimeFigureOut">
              <a:rPr lang="fr-FR" smtClean="0"/>
              <a:t>16/10/2026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2E6CF-92A1-9EF2-1949-646D64EE4F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3CF53-D496-FCEF-029D-49B8BD1E97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306416-567D-4D2F-85D8-552AE5052E8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2615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CB0BF4-3763-B308-B05A-C31B43CE24DC}"/>
              </a:ext>
            </a:extLst>
          </p:cNvPr>
          <p:cNvSpPr txBox="1"/>
          <p:nvPr/>
        </p:nvSpPr>
        <p:spPr>
          <a:xfrm>
            <a:off x="812800" y="1422400"/>
            <a:ext cx="9652000" cy="5693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3700" b="1">
                <a:solidFill>
                  <a:srgbClr val="FFFFFF"/>
                </a:solidFill>
                <a:latin typeface="Aptos" panose="020B0004020202020204" pitchFamily="34" charset="0"/>
              </a:rPr>
              <a:t>Beijing PM2.5 Forecasting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759C17-B717-CEE6-2843-167C136893D8}"/>
              </a:ext>
            </a:extLst>
          </p:cNvPr>
          <p:cNvSpPr txBox="1"/>
          <p:nvPr/>
        </p:nvSpPr>
        <p:spPr>
          <a:xfrm>
            <a:off x="838200" y="2476500"/>
            <a:ext cx="8636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>
                <a:solidFill>
                  <a:srgbClr val="CED7DF"/>
                </a:solidFill>
                <a:latin typeface="Aptos" panose="020B0004020202020204" pitchFamily="34" charset="0"/>
              </a:rPr>
              <a:t>Exploratory analysis, preprocessing, recurrent models, and results</a:t>
            </a:r>
            <a:endParaRPr lang="fr-FR" sz="2000">
              <a:solidFill>
                <a:srgbClr val="CED7DF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9A2075-4B44-F908-1423-7937E8B9A727}"/>
              </a:ext>
            </a:extLst>
          </p:cNvPr>
          <p:cNvSpPr/>
          <p:nvPr/>
        </p:nvSpPr>
        <p:spPr>
          <a:xfrm>
            <a:off x="838200" y="3644900"/>
            <a:ext cx="2209800" cy="50800"/>
          </a:xfrm>
          <a:prstGeom prst="rect">
            <a:avLst/>
          </a:prstGeom>
          <a:solidFill>
            <a:srgbClr val="DD9A2F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DD9A2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EAC3C9-F9CB-F100-1FBB-B31F1D688557}"/>
              </a:ext>
            </a:extLst>
          </p:cNvPr>
          <p:cNvSpPr txBox="1"/>
          <p:nvPr/>
        </p:nvSpPr>
        <p:spPr>
          <a:xfrm>
            <a:off x="838200" y="3962400"/>
            <a:ext cx="5461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CED7DF"/>
                </a:solidFill>
                <a:latin typeface="Aptos" panose="020B0004020202020204" pitchFamily="34" charset="0"/>
              </a:rPr>
              <a:t>Hourly observations from 2010 to 2014</a:t>
            </a:r>
            <a:endParaRPr lang="fr-FR" sz="1400">
              <a:solidFill>
                <a:srgbClr val="CED7D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E806ED-6FCA-EC0E-0E04-9A085A98431A}"/>
              </a:ext>
            </a:extLst>
          </p:cNvPr>
          <p:cNvSpPr txBox="1"/>
          <p:nvPr/>
        </p:nvSpPr>
        <p:spPr>
          <a:xfrm>
            <a:off x="838200" y="5461000"/>
            <a:ext cx="533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300" b="1">
                <a:solidFill>
                  <a:srgbClr val="DD9A2F"/>
                </a:solidFill>
                <a:latin typeface="Aptos" panose="020B0004020202020204" pitchFamily="34" charset="0"/>
              </a:rPr>
              <a:t>RNN  /  LSTM  /  BiLSTM</a:t>
            </a:r>
          </a:p>
        </p:txBody>
      </p:sp>
    </p:spTree>
    <p:extLst>
      <p:ext uri="{BB962C8B-B14F-4D97-AF65-F5344CB8AC3E}">
        <p14:creationId xmlns:p14="http://schemas.microsoft.com/office/powerpoint/2010/main" val="267151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698DA1-81B2-B392-A661-D9BAF609596C}"/>
              </a:ext>
            </a:extLst>
          </p:cNvPr>
          <p:cNvSpPr txBox="1"/>
          <p:nvPr/>
        </p:nvSpPr>
        <p:spPr>
          <a:xfrm>
            <a:off x="685800" y="330200"/>
            <a:ext cx="444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100" b="1">
                <a:solidFill>
                  <a:srgbClr val="1F6AC9"/>
                </a:solidFill>
                <a:latin typeface="Aptos" panose="020B0004020202020204" pitchFamily="34" charset="0"/>
              </a:rPr>
              <a:t>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ACFC54-B6E4-E6FC-CFB3-8B732EB16082}"/>
              </a:ext>
            </a:extLst>
          </p:cNvPr>
          <p:cNvSpPr txBox="1"/>
          <p:nvPr/>
        </p:nvSpPr>
        <p:spPr>
          <a:xfrm>
            <a:off x="685800" y="6350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3000" b="1">
                <a:solidFill>
                  <a:srgbClr val="131B2B"/>
                </a:solidFill>
                <a:latin typeface="Aptos" panose="020B0004020202020204" pitchFamily="34" charset="0"/>
              </a:rPr>
              <a:t>Dataset and forecasting objective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A3854E-F7D9-9533-6E06-7BB20D81C230}"/>
              </a:ext>
            </a:extLst>
          </p:cNvPr>
          <p:cNvSpPr/>
          <p:nvPr/>
        </p:nvSpPr>
        <p:spPr>
          <a:xfrm>
            <a:off x="685800" y="1320800"/>
            <a:ext cx="10820400" cy="25400"/>
          </a:xfrm>
          <a:prstGeom prst="rect">
            <a:avLst/>
          </a:prstGeom>
          <a:solidFill>
            <a:srgbClr val="1F6AC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F6AC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7AE58A-F912-D808-AA1A-3B78F2B9B9BD}"/>
              </a:ext>
            </a:extLst>
          </p:cNvPr>
          <p:cNvSpPr txBox="1"/>
          <p:nvPr/>
        </p:nvSpPr>
        <p:spPr>
          <a:xfrm>
            <a:off x="685800" y="1600200"/>
            <a:ext cx="10414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b="1">
                <a:solidFill>
                  <a:srgbClr val="24292E"/>
                </a:solidFill>
                <a:latin typeface="Aptos" panose="020B0004020202020204" pitchFamily="34" charset="0"/>
              </a:rPr>
              <a:t>Forecast the next hour of PM2.5 concentration using the previous 24 hours.</a:t>
            </a:r>
            <a:endParaRPr lang="fr-FR" sz="2100" b="1">
              <a:solidFill>
                <a:srgbClr val="24292E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E877D3-DABD-C4A7-141A-B38A4A6D83A3}"/>
              </a:ext>
            </a:extLst>
          </p:cNvPr>
          <p:cNvSpPr txBox="1"/>
          <p:nvPr/>
        </p:nvSpPr>
        <p:spPr>
          <a:xfrm>
            <a:off x="685800" y="2603500"/>
            <a:ext cx="2413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3000" b="1">
                <a:solidFill>
                  <a:srgbClr val="1F6AC9"/>
                </a:solidFill>
                <a:latin typeface="Aptos" panose="020B0004020202020204" pitchFamily="34" charset="0"/>
              </a:rPr>
              <a:t>43,800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E5B543-412E-8F42-360E-2AC1473C06A9}"/>
              </a:ext>
            </a:extLst>
          </p:cNvPr>
          <p:cNvSpPr txBox="1"/>
          <p:nvPr/>
        </p:nvSpPr>
        <p:spPr>
          <a:xfrm>
            <a:off x="685800" y="3149600"/>
            <a:ext cx="241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200">
                <a:solidFill>
                  <a:srgbClr val="666D75"/>
                </a:solidFill>
                <a:latin typeface="Aptos" panose="020B0004020202020204" pitchFamily="34" charset="0"/>
              </a:rPr>
              <a:t>hourly observations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199E35-68E7-7CFD-FF13-851D620E227F}"/>
              </a:ext>
            </a:extLst>
          </p:cNvPr>
          <p:cNvSpPr txBox="1"/>
          <p:nvPr/>
        </p:nvSpPr>
        <p:spPr>
          <a:xfrm>
            <a:off x="3683000" y="2603500"/>
            <a:ext cx="190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3000" b="1">
                <a:solidFill>
                  <a:srgbClr val="1F6AC9"/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B7AA82-3BDF-D742-4BC8-9EAE2EC30B4A}"/>
              </a:ext>
            </a:extLst>
          </p:cNvPr>
          <p:cNvSpPr txBox="1"/>
          <p:nvPr/>
        </p:nvSpPr>
        <p:spPr>
          <a:xfrm>
            <a:off x="3683000" y="3149600"/>
            <a:ext cx="190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200">
                <a:solidFill>
                  <a:srgbClr val="666D75"/>
                </a:solidFill>
                <a:latin typeface="Aptos" panose="020B0004020202020204" pitchFamily="34" charset="0"/>
              </a:rPr>
              <a:t>original variables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E51C29-76CE-63D5-EC6D-EB5CA206C5FA}"/>
              </a:ext>
            </a:extLst>
          </p:cNvPr>
          <p:cNvSpPr txBox="1"/>
          <p:nvPr/>
        </p:nvSpPr>
        <p:spPr>
          <a:xfrm>
            <a:off x="6096000" y="2603500"/>
            <a:ext cx="2349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3000" b="1">
                <a:solidFill>
                  <a:srgbClr val="1F6AC9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A5A687-5C90-3FBB-7553-55320BD133BF}"/>
              </a:ext>
            </a:extLst>
          </p:cNvPr>
          <p:cNvSpPr txBox="1"/>
          <p:nvPr/>
        </p:nvSpPr>
        <p:spPr>
          <a:xfrm>
            <a:off x="6096000" y="3149600"/>
            <a:ext cx="2349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200">
                <a:solidFill>
                  <a:srgbClr val="666D75"/>
                </a:solidFill>
                <a:latin typeface="Aptos" panose="020B0004020202020204" pitchFamily="34" charset="0"/>
              </a:rPr>
              <a:t>missing PM2.5 readings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642210-6BDD-DD0B-5342-0DEA308F1DA9}"/>
              </a:ext>
            </a:extLst>
          </p:cNvPr>
          <p:cNvSpPr txBox="1"/>
          <p:nvPr/>
        </p:nvSpPr>
        <p:spPr>
          <a:xfrm>
            <a:off x="9017000" y="2603500"/>
            <a:ext cx="24892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3000" b="1">
                <a:solidFill>
                  <a:srgbClr val="1F6AC9"/>
                </a:solidFill>
                <a:latin typeface="Aptos" panose="020B0004020202020204" pitchFamily="34" charset="0"/>
              </a:rPr>
              <a:t>0-994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B5ED83-911D-C4E7-00AD-50B40FC5519C}"/>
              </a:ext>
            </a:extLst>
          </p:cNvPr>
          <p:cNvSpPr txBox="1"/>
          <p:nvPr/>
        </p:nvSpPr>
        <p:spPr>
          <a:xfrm>
            <a:off x="9017000" y="3149600"/>
            <a:ext cx="2489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200">
                <a:solidFill>
                  <a:srgbClr val="666D75"/>
                </a:solidFill>
                <a:latin typeface="Aptos" panose="020B0004020202020204" pitchFamily="34" charset="0"/>
              </a:rPr>
              <a:t>PM2.5 range, micrograms/m3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C2D699-EAF3-87F1-3C51-8B0A95FA25B1}"/>
              </a:ext>
            </a:extLst>
          </p:cNvPr>
          <p:cNvSpPr txBox="1"/>
          <p:nvPr/>
        </p:nvSpPr>
        <p:spPr>
          <a:xfrm>
            <a:off x="685800" y="4445000"/>
            <a:ext cx="9906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666D75"/>
                </a:solidFill>
                <a:latin typeface="Aptos" panose="020B0004020202020204" pitchFamily="34" charset="0"/>
              </a:rPr>
              <a:t>Inputs include pollution, dew point, temperature, pressure, wind, snow, and rain. The target is pollution at t+1.</a:t>
            </a:r>
            <a:endParaRPr lang="fr-FR" sz="1700">
              <a:solidFill>
                <a:srgbClr val="666D75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A3FB06-62F1-0D3A-85C3-8D97A32A1B65}"/>
              </a:ext>
            </a:extLst>
          </p:cNvPr>
          <p:cNvSpPr txBox="1"/>
          <p:nvPr/>
        </p:nvSpPr>
        <p:spPr>
          <a:xfrm>
            <a:off x="685800" y="6400800"/>
            <a:ext cx="355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900">
                <a:solidFill>
                  <a:srgbClr val="666D75"/>
                </a:solidFill>
                <a:latin typeface="Aptos" panose="020B0004020202020204" pitchFamily="34" charset="0"/>
              </a:rPr>
              <a:t>Beijing PM2.5 forecasting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C98D1F-1F35-9B22-67B1-6B4279E8E90C}"/>
              </a:ext>
            </a:extLst>
          </p:cNvPr>
          <p:cNvSpPr txBox="1"/>
          <p:nvPr/>
        </p:nvSpPr>
        <p:spPr>
          <a:xfrm>
            <a:off x="11176000" y="6400800"/>
            <a:ext cx="330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r-FR" sz="900">
                <a:solidFill>
                  <a:srgbClr val="666D75"/>
                </a:solidFill>
                <a:latin typeface="Aptos" panose="020B00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11909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531B4E-0491-13F5-C80C-48CB59F752D8}"/>
              </a:ext>
            </a:extLst>
          </p:cNvPr>
          <p:cNvSpPr txBox="1"/>
          <p:nvPr/>
        </p:nvSpPr>
        <p:spPr>
          <a:xfrm>
            <a:off x="685800" y="330200"/>
            <a:ext cx="444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100" b="1">
                <a:solidFill>
                  <a:srgbClr val="1F6AC9"/>
                </a:solidFill>
                <a:latin typeface="Aptos" panose="020B0004020202020204" pitchFamily="34" charset="0"/>
              </a:rPr>
              <a:t>EDA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48F008-50AC-EAA5-962D-E2C885B56C0F}"/>
              </a:ext>
            </a:extLst>
          </p:cNvPr>
          <p:cNvSpPr txBox="1"/>
          <p:nvPr/>
        </p:nvSpPr>
        <p:spPr>
          <a:xfrm>
            <a:off x="685800" y="6350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131B2B"/>
                </a:solidFill>
                <a:latin typeface="Aptos" panose="020B0004020202020204" pitchFamily="34" charset="0"/>
              </a:rPr>
              <a:t>What the exploratory analysis revealed</a:t>
            </a:r>
            <a:endParaRPr lang="fr-FR" sz="3000" b="1">
              <a:solidFill>
                <a:srgbClr val="131B2B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28ED60-396B-E82D-E264-F6AA07D7EF68}"/>
              </a:ext>
            </a:extLst>
          </p:cNvPr>
          <p:cNvSpPr/>
          <p:nvPr/>
        </p:nvSpPr>
        <p:spPr>
          <a:xfrm>
            <a:off x="685800" y="1320800"/>
            <a:ext cx="10820400" cy="25400"/>
          </a:xfrm>
          <a:prstGeom prst="rect">
            <a:avLst/>
          </a:prstGeom>
          <a:solidFill>
            <a:srgbClr val="1F6AC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F6AC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6A2522-C70F-89D5-894B-6B45201B2950}"/>
              </a:ext>
            </a:extLst>
          </p:cNvPr>
          <p:cNvSpPr txBox="1"/>
          <p:nvPr/>
        </p:nvSpPr>
        <p:spPr>
          <a:xfrm>
            <a:off x="685800" y="1841500"/>
            <a:ext cx="330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2000" b="1">
                <a:solidFill>
                  <a:srgbClr val="1F6AC9"/>
                </a:solidFill>
                <a:latin typeface="Aptos" panose="020B0004020202020204" pitchFamily="34" charset="0"/>
              </a:rPr>
              <a:t>Persistent signal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00D009-7904-B694-CA56-B1AE421BC0DD}"/>
              </a:ext>
            </a:extLst>
          </p:cNvPr>
          <p:cNvSpPr txBox="1"/>
          <p:nvPr/>
        </p:nvSpPr>
        <p:spPr>
          <a:xfrm>
            <a:off x="685800" y="2286000"/>
            <a:ext cx="3175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24292E"/>
                </a:solidFill>
                <a:latin typeface="Aptos" panose="020B0004020202020204" pitchFamily="34" charset="0"/>
              </a:rPr>
              <a:t>Autocorrelation declines slowly. Recent PM2.5 values carry strong information about the next hour.</a:t>
            </a:r>
            <a:endParaRPr lang="fr-FR" sz="1600">
              <a:solidFill>
                <a:srgbClr val="24292E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B2378D-BB07-F245-B352-9914383215A6}"/>
              </a:ext>
            </a:extLst>
          </p:cNvPr>
          <p:cNvSpPr txBox="1"/>
          <p:nvPr/>
        </p:nvSpPr>
        <p:spPr>
          <a:xfrm>
            <a:off x="4445000" y="1841500"/>
            <a:ext cx="330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2000" b="1">
                <a:solidFill>
                  <a:srgbClr val="1F6AC9"/>
                </a:solidFill>
                <a:latin typeface="Aptos" panose="020B0004020202020204" pitchFamily="34" charset="0"/>
              </a:rPr>
              <a:t>Seasonal pattern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B777E2-A9AF-9E02-C402-364EFA47C0C1}"/>
              </a:ext>
            </a:extLst>
          </p:cNvPr>
          <p:cNvSpPr txBox="1"/>
          <p:nvPr/>
        </p:nvSpPr>
        <p:spPr>
          <a:xfrm>
            <a:off x="4445000" y="2286000"/>
            <a:ext cx="3175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24292E"/>
                </a:solidFill>
                <a:latin typeface="Aptos" panose="020B0004020202020204" pitchFamily="34" charset="0"/>
              </a:rPr>
              <a:t>Average pollution rises in winter, especially from November through February.</a:t>
            </a:r>
            <a:endParaRPr lang="fr-FR" sz="1600">
              <a:solidFill>
                <a:srgbClr val="24292E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314BFE-FEDA-E447-C22C-ED7CA65EA215}"/>
              </a:ext>
            </a:extLst>
          </p:cNvPr>
          <p:cNvSpPr txBox="1"/>
          <p:nvPr/>
        </p:nvSpPr>
        <p:spPr>
          <a:xfrm>
            <a:off x="8204200" y="1841500"/>
            <a:ext cx="330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2000" b="1">
                <a:solidFill>
                  <a:srgbClr val="1F6AC9"/>
                </a:solidFill>
                <a:latin typeface="Aptos" panose="020B0004020202020204" pitchFamily="34" charset="0"/>
              </a:rPr>
              <a:t>Extreme events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2E6AAD-E8A1-97DE-E120-AD3D7890D9AA}"/>
              </a:ext>
            </a:extLst>
          </p:cNvPr>
          <p:cNvSpPr txBox="1"/>
          <p:nvPr/>
        </p:nvSpPr>
        <p:spPr>
          <a:xfrm>
            <a:off x="8204200" y="2286000"/>
            <a:ext cx="3175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24292E"/>
                </a:solidFill>
                <a:latin typeface="Aptos" panose="020B0004020202020204" pitchFamily="34" charset="0"/>
              </a:rPr>
              <a:t>Large spikes reach 994 micrograms/m3. These episodes create the largest forecasting errors.</a:t>
            </a:r>
            <a:endParaRPr lang="fr-FR" sz="1600">
              <a:solidFill>
                <a:srgbClr val="24292E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F6728A-C4A8-3034-5E0E-F6260A21B990}"/>
              </a:ext>
            </a:extLst>
          </p:cNvPr>
          <p:cNvSpPr/>
          <p:nvPr/>
        </p:nvSpPr>
        <p:spPr>
          <a:xfrm>
            <a:off x="685800" y="4191000"/>
            <a:ext cx="10820400" cy="12700"/>
          </a:xfrm>
          <a:prstGeom prst="rect">
            <a:avLst/>
          </a:prstGeom>
          <a:solidFill>
            <a:srgbClr val="D0D8DE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D0D8DE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2B89A2-0018-5EC3-1C4E-272AD051DE12}"/>
              </a:ext>
            </a:extLst>
          </p:cNvPr>
          <p:cNvSpPr txBox="1"/>
          <p:nvPr/>
        </p:nvSpPr>
        <p:spPr>
          <a:xfrm>
            <a:off x="685800" y="4559300"/>
            <a:ext cx="177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400" b="1">
                <a:solidFill>
                  <a:srgbClr val="DD9A2F"/>
                </a:solidFill>
                <a:latin typeface="Aptos" panose="020B0004020202020204" pitchFamily="34" charset="0"/>
              </a:rPr>
              <a:t>EDA decision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475CAE-42DD-0258-1402-F1C320B57ADC}"/>
              </a:ext>
            </a:extLst>
          </p:cNvPr>
          <p:cNvSpPr txBox="1"/>
          <p:nvPr/>
        </p:nvSpPr>
        <p:spPr>
          <a:xfrm>
            <a:off x="2413000" y="4470400"/>
            <a:ext cx="8763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131B2B"/>
                </a:solidFill>
                <a:latin typeface="Aptos" panose="020B0004020202020204" pitchFamily="34" charset="0"/>
              </a:rPr>
              <a:t>Use a 24-hour history window and compare sequence models against a strong persistence baseline.</a:t>
            </a:r>
            <a:endParaRPr lang="fr-FR" sz="2000" b="1">
              <a:solidFill>
                <a:srgbClr val="131B2B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D399FC-01B5-9458-DB31-FE3677E629D9}"/>
              </a:ext>
            </a:extLst>
          </p:cNvPr>
          <p:cNvSpPr txBox="1"/>
          <p:nvPr/>
        </p:nvSpPr>
        <p:spPr>
          <a:xfrm>
            <a:off x="685800" y="6400800"/>
            <a:ext cx="355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900">
                <a:solidFill>
                  <a:srgbClr val="666D75"/>
                </a:solidFill>
                <a:latin typeface="Aptos" panose="020B0004020202020204" pitchFamily="34" charset="0"/>
              </a:rPr>
              <a:t>Beijing PM2.5 forecasting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B6FC0D-8536-18B8-57EF-EE6D252D37CE}"/>
              </a:ext>
            </a:extLst>
          </p:cNvPr>
          <p:cNvSpPr txBox="1"/>
          <p:nvPr/>
        </p:nvSpPr>
        <p:spPr>
          <a:xfrm>
            <a:off x="11176000" y="6400800"/>
            <a:ext cx="330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r-FR" sz="900">
                <a:solidFill>
                  <a:srgbClr val="666D75"/>
                </a:solidFill>
                <a:latin typeface="Aptos" panose="020B00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07113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B08FC0-CF6E-3988-6B61-0AD07F19E1DC}"/>
              </a:ext>
            </a:extLst>
          </p:cNvPr>
          <p:cNvSpPr txBox="1"/>
          <p:nvPr/>
        </p:nvSpPr>
        <p:spPr>
          <a:xfrm>
            <a:off x="685800" y="330200"/>
            <a:ext cx="444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100" b="1">
                <a:solidFill>
                  <a:srgbClr val="1F6AC9"/>
                </a:solidFill>
                <a:latin typeface="Aptos" panose="020B0004020202020204" pitchFamily="34" charset="0"/>
              </a:rPr>
              <a:t>EDA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F6E89C-9548-CD96-06A6-2D4EEB774141}"/>
              </a:ext>
            </a:extLst>
          </p:cNvPr>
          <p:cNvSpPr txBox="1"/>
          <p:nvPr/>
        </p:nvSpPr>
        <p:spPr>
          <a:xfrm>
            <a:off x="685800" y="6350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131B2B"/>
                </a:solidFill>
                <a:latin typeface="Aptos" panose="020B0004020202020204" pitchFamily="34" charset="0"/>
              </a:rPr>
              <a:t>Pollution rises in late autumn and winter</a:t>
            </a:r>
            <a:endParaRPr lang="fr-FR" sz="3000" b="1">
              <a:solidFill>
                <a:srgbClr val="131B2B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A94DA1-BB5B-AAD7-E24E-6BF645550377}"/>
              </a:ext>
            </a:extLst>
          </p:cNvPr>
          <p:cNvSpPr/>
          <p:nvPr/>
        </p:nvSpPr>
        <p:spPr>
          <a:xfrm>
            <a:off x="685800" y="1320800"/>
            <a:ext cx="10820400" cy="25400"/>
          </a:xfrm>
          <a:prstGeom prst="rect">
            <a:avLst/>
          </a:prstGeom>
          <a:solidFill>
            <a:srgbClr val="1F6AC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F6AC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68A699-0A2F-41DE-4521-8616F83C5DBE}"/>
              </a:ext>
            </a:extLst>
          </p:cNvPr>
          <p:cNvSpPr/>
          <p:nvPr/>
        </p:nvSpPr>
        <p:spPr>
          <a:xfrm>
            <a:off x="889000" y="4953000"/>
            <a:ext cx="8255000" cy="12700"/>
          </a:xfrm>
          <a:prstGeom prst="rect">
            <a:avLst/>
          </a:prstGeom>
          <a:solidFill>
            <a:srgbClr val="D0D8DE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D0D8DE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3FEC5D-083C-A214-71F1-51D165AFA81A}"/>
              </a:ext>
            </a:extLst>
          </p:cNvPr>
          <p:cNvSpPr/>
          <p:nvPr/>
        </p:nvSpPr>
        <p:spPr>
          <a:xfrm>
            <a:off x="889000" y="3092196"/>
            <a:ext cx="594783" cy="1860804"/>
          </a:xfrm>
          <a:prstGeom prst="rect">
            <a:avLst/>
          </a:prstGeom>
          <a:solidFill>
            <a:srgbClr val="DD9A2F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DD9A2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363549-DD42-4769-EC3B-954B6F47A4F7}"/>
              </a:ext>
            </a:extLst>
          </p:cNvPr>
          <p:cNvSpPr txBox="1"/>
          <p:nvPr/>
        </p:nvSpPr>
        <p:spPr>
          <a:xfrm>
            <a:off x="889000" y="2863596"/>
            <a:ext cx="594783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000" b="1">
                <a:solidFill>
                  <a:srgbClr val="24292E"/>
                </a:solidFill>
                <a:latin typeface="Aptos" panose="020B0004020202020204" pitchFamily="34" charset="0"/>
              </a:rPr>
              <a:t>108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3C2279-DC07-0D6A-603D-63DFA99BCBF6}"/>
              </a:ext>
            </a:extLst>
          </p:cNvPr>
          <p:cNvSpPr txBox="1"/>
          <p:nvPr/>
        </p:nvSpPr>
        <p:spPr>
          <a:xfrm>
            <a:off x="889000" y="5054600"/>
            <a:ext cx="594783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900">
                <a:solidFill>
                  <a:srgbClr val="666D75"/>
                </a:solidFill>
                <a:latin typeface="Aptos" panose="020B0004020202020204" pitchFamily="34" charset="0"/>
              </a:rPr>
              <a:t>Jan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8F25C2-0AF4-49A8-8AE3-6F9E899B51A3}"/>
              </a:ext>
            </a:extLst>
          </p:cNvPr>
          <p:cNvSpPr/>
          <p:nvPr/>
        </p:nvSpPr>
        <p:spPr>
          <a:xfrm>
            <a:off x="1585383" y="2426794"/>
            <a:ext cx="594784" cy="2526206"/>
          </a:xfrm>
          <a:prstGeom prst="rect">
            <a:avLst/>
          </a:prstGeom>
          <a:solidFill>
            <a:srgbClr val="1F6AC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F6AC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EEB4FB-BE8D-21F5-CAB6-F6B766E7330C}"/>
              </a:ext>
            </a:extLst>
          </p:cNvPr>
          <p:cNvSpPr txBox="1"/>
          <p:nvPr/>
        </p:nvSpPr>
        <p:spPr>
          <a:xfrm>
            <a:off x="1585383" y="2198194"/>
            <a:ext cx="594783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000" b="1">
                <a:solidFill>
                  <a:srgbClr val="24292E"/>
                </a:solidFill>
                <a:latin typeface="Aptos" panose="020B0004020202020204" pitchFamily="34" charset="0"/>
              </a:rPr>
              <a:t>125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4166E2-E0A9-068C-700F-6099383FA390}"/>
              </a:ext>
            </a:extLst>
          </p:cNvPr>
          <p:cNvSpPr txBox="1"/>
          <p:nvPr/>
        </p:nvSpPr>
        <p:spPr>
          <a:xfrm>
            <a:off x="1585383" y="5232400"/>
            <a:ext cx="594783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900">
                <a:solidFill>
                  <a:srgbClr val="666D75"/>
                </a:solidFill>
                <a:latin typeface="Aptos" panose="020B0004020202020204" pitchFamily="34" charset="0"/>
              </a:rPr>
              <a:t>Feb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90F68F-0A66-9E1B-B93D-12B2B93E25CC}"/>
              </a:ext>
            </a:extLst>
          </p:cNvPr>
          <p:cNvSpPr/>
          <p:nvPr/>
        </p:nvSpPr>
        <p:spPr>
          <a:xfrm>
            <a:off x="2281767" y="3660882"/>
            <a:ext cx="594783" cy="1292118"/>
          </a:xfrm>
          <a:prstGeom prst="rect">
            <a:avLst/>
          </a:prstGeom>
          <a:solidFill>
            <a:srgbClr val="1F6AC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F6AC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950D13-74A9-73A5-E236-8B2D7D7B6EBA}"/>
              </a:ext>
            </a:extLst>
          </p:cNvPr>
          <p:cNvSpPr txBox="1"/>
          <p:nvPr/>
        </p:nvSpPr>
        <p:spPr>
          <a:xfrm>
            <a:off x="2281767" y="3432282"/>
            <a:ext cx="594783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000" b="1">
                <a:solidFill>
                  <a:srgbClr val="24292E"/>
                </a:solidFill>
                <a:latin typeface="Aptos" panose="020B0004020202020204" pitchFamily="34" charset="0"/>
              </a:rPr>
              <a:t>93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DB1870-C827-D11C-B42C-80A817C98E18}"/>
              </a:ext>
            </a:extLst>
          </p:cNvPr>
          <p:cNvSpPr txBox="1"/>
          <p:nvPr/>
        </p:nvSpPr>
        <p:spPr>
          <a:xfrm>
            <a:off x="2281767" y="5054600"/>
            <a:ext cx="594783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900">
                <a:solidFill>
                  <a:srgbClr val="666D75"/>
                </a:solidFill>
                <a:latin typeface="Aptos" panose="020B0004020202020204" pitchFamily="34" charset="0"/>
              </a:rPr>
              <a:t>Mar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907A1C-5C19-C497-0DFF-21A357B7DC72}"/>
              </a:ext>
            </a:extLst>
          </p:cNvPr>
          <p:cNvSpPr/>
          <p:nvPr/>
        </p:nvSpPr>
        <p:spPr>
          <a:xfrm>
            <a:off x="2978150" y="4210226"/>
            <a:ext cx="594783" cy="742774"/>
          </a:xfrm>
          <a:prstGeom prst="rect">
            <a:avLst/>
          </a:prstGeom>
          <a:solidFill>
            <a:srgbClr val="1F6AC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F6AC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EF11B9-F1BA-F03B-D429-42662CD5E851}"/>
              </a:ext>
            </a:extLst>
          </p:cNvPr>
          <p:cNvSpPr txBox="1"/>
          <p:nvPr/>
        </p:nvSpPr>
        <p:spPr>
          <a:xfrm>
            <a:off x="2978150" y="3981626"/>
            <a:ext cx="594783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000" b="1">
                <a:solidFill>
                  <a:srgbClr val="24292E"/>
                </a:solidFill>
                <a:latin typeface="Aptos" panose="020B0004020202020204" pitchFamily="34" charset="0"/>
              </a:rPr>
              <a:t>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2869B3-C104-81A2-0FA8-3E9A1C8BAEED}"/>
              </a:ext>
            </a:extLst>
          </p:cNvPr>
          <p:cNvSpPr txBox="1"/>
          <p:nvPr/>
        </p:nvSpPr>
        <p:spPr>
          <a:xfrm>
            <a:off x="2978150" y="5232400"/>
            <a:ext cx="594783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900">
                <a:solidFill>
                  <a:srgbClr val="666D75"/>
                </a:solidFill>
                <a:latin typeface="Aptos" panose="020B0004020202020204" pitchFamily="34" charset="0"/>
              </a:rPr>
              <a:t>Apr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9AF28C-46A6-EFE9-B6F1-2AC6C651DAA4}"/>
              </a:ext>
            </a:extLst>
          </p:cNvPr>
          <p:cNvSpPr/>
          <p:nvPr/>
        </p:nvSpPr>
        <p:spPr>
          <a:xfrm>
            <a:off x="3674533" y="4268255"/>
            <a:ext cx="594784" cy="684745"/>
          </a:xfrm>
          <a:prstGeom prst="rect">
            <a:avLst/>
          </a:prstGeom>
          <a:solidFill>
            <a:srgbClr val="1F6AC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F6AC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514623-6A77-9D05-42A6-B9D8A7BD334E}"/>
              </a:ext>
            </a:extLst>
          </p:cNvPr>
          <p:cNvSpPr txBox="1"/>
          <p:nvPr/>
        </p:nvSpPr>
        <p:spPr>
          <a:xfrm>
            <a:off x="3674533" y="4039655"/>
            <a:ext cx="594783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000" b="1">
                <a:solidFill>
                  <a:srgbClr val="24292E"/>
                </a:solidFill>
                <a:latin typeface="Aptos" panose="020B0004020202020204" pitchFamily="34" charset="0"/>
              </a:rPr>
              <a:t>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52C64B-99EA-0AA5-977C-E03AFA339D66}"/>
              </a:ext>
            </a:extLst>
          </p:cNvPr>
          <p:cNvSpPr txBox="1"/>
          <p:nvPr/>
        </p:nvSpPr>
        <p:spPr>
          <a:xfrm>
            <a:off x="3674533" y="5054600"/>
            <a:ext cx="594783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900">
                <a:solidFill>
                  <a:srgbClr val="666D75"/>
                </a:solidFill>
                <a:latin typeface="Aptos" panose="020B0004020202020204" pitchFamily="34" charset="0"/>
              </a:rPr>
              <a:t>May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AA237CB-D38B-DC34-D76F-7CC7B9432C96}"/>
              </a:ext>
            </a:extLst>
          </p:cNvPr>
          <p:cNvSpPr/>
          <p:nvPr/>
        </p:nvSpPr>
        <p:spPr>
          <a:xfrm>
            <a:off x="4370917" y="3742124"/>
            <a:ext cx="594783" cy="1210876"/>
          </a:xfrm>
          <a:prstGeom prst="rect">
            <a:avLst/>
          </a:prstGeom>
          <a:solidFill>
            <a:srgbClr val="1F6AC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F6AC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DD2B1A-EB90-A06F-54E3-72EEA8F3C589}"/>
              </a:ext>
            </a:extLst>
          </p:cNvPr>
          <p:cNvSpPr txBox="1"/>
          <p:nvPr/>
        </p:nvSpPr>
        <p:spPr>
          <a:xfrm>
            <a:off x="4370917" y="3513524"/>
            <a:ext cx="594783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000" b="1">
                <a:solidFill>
                  <a:srgbClr val="24292E"/>
                </a:solidFill>
                <a:latin typeface="Aptos" panose="020B0004020202020204" pitchFamily="34" charset="0"/>
              </a:rPr>
              <a:t>91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FB793D-8254-53D1-62A8-7628AD04192B}"/>
              </a:ext>
            </a:extLst>
          </p:cNvPr>
          <p:cNvSpPr txBox="1"/>
          <p:nvPr/>
        </p:nvSpPr>
        <p:spPr>
          <a:xfrm>
            <a:off x="4370917" y="5232400"/>
            <a:ext cx="594783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900">
                <a:solidFill>
                  <a:srgbClr val="666D75"/>
                </a:solidFill>
                <a:latin typeface="Aptos" panose="020B0004020202020204" pitchFamily="34" charset="0"/>
              </a:rPr>
              <a:t>Jun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9191A3-4607-BB4D-80E9-1C3E5A0484AE}"/>
              </a:ext>
            </a:extLst>
          </p:cNvPr>
          <p:cNvSpPr/>
          <p:nvPr/>
        </p:nvSpPr>
        <p:spPr>
          <a:xfrm>
            <a:off x="5067300" y="3695700"/>
            <a:ext cx="594783" cy="1257300"/>
          </a:xfrm>
          <a:prstGeom prst="rect">
            <a:avLst/>
          </a:prstGeom>
          <a:solidFill>
            <a:srgbClr val="1F6AC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F6AC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CBD804-F2BF-7B6B-CB58-6CFC7F7FB79C}"/>
              </a:ext>
            </a:extLst>
          </p:cNvPr>
          <p:cNvSpPr txBox="1"/>
          <p:nvPr/>
        </p:nvSpPr>
        <p:spPr>
          <a:xfrm>
            <a:off x="5067300" y="3467100"/>
            <a:ext cx="594783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000" b="1">
                <a:solidFill>
                  <a:srgbClr val="24292E"/>
                </a:solidFill>
                <a:latin typeface="Aptos" panose="020B0004020202020204" pitchFamily="34" charset="0"/>
              </a:rPr>
              <a:t>93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111DA3-6206-4966-786A-72BE96C185A9}"/>
              </a:ext>
            </a:extLst>
          </p:cNvPr>
          <p:cNvSpPr txBox="1"/>
          <p:nvPr/>
        </p:nvSpPr>
        <p:spPr>
          <a:xfrm>
            <a:off x="5067300" y="5054600"/>
            <a:ext cx="594783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900">
                <a:solidFill>
                  <a:srgbClr val="666D75"/>
                </a:solidFill>
                <a:latin typeface="Aptos" panose="020B0004020202020204" pitchFamily="34" charset="0"/>
              </a:rPr>
              <a:t>Jul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14DD3DC-D0EA-BA82-F5FE-6B624486E841}"/>
              </a:ext>
            </a:extLst>
          </p:cNvPr>
          <p:cNvSpPr/>
          <p:nvPr/>
        </p:nvSpPr>
        <p:spPr>
          <a:xfrm>
            <a:off x="5763683" y="4496503"/>
            <a:ext cx="594784" cy="456497"/>
          </a:xfrm>
          <a:prstGeom prst="rect">
            <a:avLst/>
          </a:prstGeom>
          <a:solidFill>
            <a:srgbClr val="1F6AC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F6AC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80657C-58FC-9BC7-5A98-E84E822221ED}"/>
              </a:ext>
            </a:extLst>
          </p:cNvPr>
          <p:cNvSpPr txBox="1"/>
          <p:nvPr/>
        </p:nvSpPr>
        <p:spPr>
          <a:xfrm>
            <a:off x="5763683" y="4267903"/>
            <a:ext cx="594783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000" b="1">
                <a:solidFill>
                  <a:srgbClr val="24292E"/>
                </a:solidFill>
                <a:latin typeface="Aptos" panose="020B0004020202020204" pitchFamily="34" charset="0"/>
              </a:rPr>
              <a:t>72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7B3139E-05B2-5AA4-5E58-A25A35D1292D}"/>
              </a:ext>
            </a:extLst>
          </p:cNvPr>
          <p:cNvSpPr txBox="1"/>
          <p:nvPr/>
        </p:nvSpPr>
        <p:spPr>
          <a:xfrm>
            <a:off x="5763683" y="5232400"/>
            <a:ext cx="594783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900">
                <a:solidFill>
                  <a:srgbClr val="666D75"/>
                </a:solidFill>
                <a:latin typeface="Aptos" panose="020B0004020202020204" pitchFamily="34" charset="0"/>
              </a:rPr>
              <a:t>Aug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F5B9356-E354-7385-7B03-3BEAE6DE84E4}"/>
              </a:ext>
            </a:extLst>
          </p:cNvPr>
          <p:cNvSpPr/>
          <p:nvPr/>
        </p:nvSpPr>
        <p:spPr>
          <a:xfrm>
            <a:off x="6460067" y="4221832"/>
            <a:ext cx="594783" cy="731168"/>
          </a:xfrm>
          <a:prstGeom prst="rect">
            <a:avLst/>
          </a:prstGeom>
          <a:solidFill>
            <a:srgbClr val="1F6AC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F6AC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327C905-5154-3199-EB31-70A0E35A782B}"/>
              </a:ext>
            </a:extLst>
          </p:cNvPr>
          <p:cNvSpPr txBox="1"/>
          <p:nvPr/>
        </p:nvSpPr>
        <p:spPr>
          <a:xfrm>
            <a:off x="6460067" y="3993232"/>
            <a:ext cx="594783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000" b="1">
                <a:solidFill>
                  <a:srgbClr val="24292E"/>
                </a:solidFill>
                <a:latin typeface="Aptos" panose="020B0004020202020204" pitchFamily="34" charset="0"/>
              </a:rPr>
              <a:t>79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FD32C6-63CA-C9CE-3169-0FB6F28442A7}"/>
              </a:ext>
            </a:extLst>
          </p:cNvPr>
          <p:cNvSpPr txBox="1"/>
          <p:nvPr/>
        </p:nvSpPr>
        <p:spPr>
          <a:xfrm>
            <a:off x="6460067" y="5054600"/>
            <a:ext cx="594783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900">
                <a:solidFill>
                  <a:srgbClr val="666D75"/>
                </a:solidFill>
                <a:latin typeface="Aptos" panose="020B0004020202020204" pitchFamily="34" charset="0"/>
              </a:rPr>
              <a:t>Sep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DEF37B9-4521-988F-A8D4-679778844D7E}"/>
              </a:ext>
            </a:extLst>
          </p:cNvPr>
          <p:cNvSpPr/>
          <p:nvPr/>
        </p:nvSpPr>
        <p:spPr>
          <a:xfrm>
            <a:off x="7156450" y="2794313"/>
            <a:ext cx="594783" cy="2158687"/>
          </a:xfrm>
          <a:prstGeom prst="rect">
            <a:avLst/>
          </a:prstGeom>
          <a:solidFill>
            <a:srgbClr val="1F6AC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F6AC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18BBB9-107F-BCB1-D63F-F9DDDA7CF6EF}"/>
              </a:ext>
            </a:extLst>
          </p:cNvPr>
          <p:cNvSpPr txBox="1"/>
          <p:nvPr/>
        </p:nvSpPr>
        <p:spPr>
          <a:xfrm>
            <a:off x="7156450" y="2565713"/>
            <a:ext cx="594783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000" b="1">
                <a:solidFill>
                  <a:srgbClr val="24292E"/>
                </a:solidFill>
                <a:latin typeface="Aptos" panose="020B0004020202020204" pitchFamily="34" charset="0"/>
              </a:rPr>
              <a:t>116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4ECECF-3725-D33D-BE72-8C1E7F18D1FF}"/>
              </a:ext>
            </a:extLst>
          </p:cNvPr>
          <p:cNvSpPr txBox="1"/>
          <p:nvPr/>
        </p:nvSpPr>
        <p:spPr>
          <a:xfrm>
            <a:off x="7156450" y="5232400"/>
            <a:ext cx="594783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900">
                <a:solidFill>
                  <a:srgbClr val="666D75"/>
                </a:solidFill>
                <a:latin typeface="Aptos" panose="020B0004020202020204" pitchFamily="34" charset="0"/>
              </a:rPr>
              <a:t>Oct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45A0F4-A447-2D5D-B054-0F12E9B5BA96}"/>
              </a:ext>
            </a:extLst>
          </p:cNvPr>
          <p:cNvSpPr/>
          <p:nvPr/>
        </p:nvSpPr>
        <p:spPr>
          <a:xfrm>
            <a:off x="7852833" y="3293364"/>
            <a:ext cx="594783" cy="1659636"/>
          </a:xfrm>
          <a:prstGeom prst="rect">
            <a:avLst/>
          </a:prstGeom>
          <a:solidFill>
            <a:srgbClr val="DD9A2F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DD9A2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7333ED-B950-14C1-B426-C54FA50FD93C}"/>
              </a:ext>
            </a:extLst>
          </p:cNvPr>
          <p:cNvSpPr txBox="1"/>
          <p:nvPr/>
        </p:nvSpPr>
        <p:spPr>
          <a:xfrm>
            <a:off x="7852833" y="3064764"/>
            <a:ext cx="594783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000" b="1">
                <a:solidFill>
                  <a:srgbClr val="24292E"/>
                </a:solidFill>
                <a:latin typeface="Aptos" panose="020B0004020202020204" pitchFamily="34" charset="0"/>
              </a:rPr>
              <a:t>103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2FC089-0109-5D59-B42E-191CDE67CC8E}"/>
              </a:ext>
            </a:extLst>
          </p:cNvPr>
          <p:cNvSpPr txBox="1"/>
          <p:nvPr/>
        </p:nvSpPr>
        <p:spPr>
          <a:xfrm>
            <a:off x="7852833" y="5054600"/>
            <a:ext cx="594783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900">
                <a:solidFill>
                  <a:srgbClr val="666D75"/>
                </a:solidFill>
                <a:latin typeface="Aptos" panose="020B0004020202020204" pitchFamily="34" charset="0"/>
              </a:rPr>
              <a:t>Nov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97B6747-A69E-BD2B-1D6A-9C0DAB50C8B0}"/>
              </a:ext>
            </a:extLst>
          </p:cNvPr>
          <p:cNvSpPr/>
          <p:nvPr/>
        </p:nvSpPr>
        <p:spPr>
          <a:xfrm>
            <a:off x="8549217" y="3657014"/>
            <a:ext cx="594783" cy="1295986"/>
          </a:xfrm>
          <a:prstGeom prst="rect">
            <a:avLst/>
          </a:prstGeom>
          <a:solidFill>
            <a:srgbClr val="DD9A2F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DD9A2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138B6D8-591D-B9D1-4061-905149E6A465}"/>
              </a:ext>
            </a:extLst>
          </p:cNvPr>
          <p:cNvSpPr txBox="1"/>
          <p:nvPr/>
        </p:nvSpPr>
        <p:spPr>
          <a:xfrm>
            <a:off x="8549217" y="3428414"/>
            <a:ext cx="594783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1000" b="1">
                <a:solidFill>
                  <a:srgbClr val="24292E"/>
                </a:solidFill>
                <a:latin typeface="Aptos" panose="020B0004020202020204" pitchFamily="34" charset="0"/>
              </a:rPr>
              <a:t>94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19A33CD-DE80-3A66-515C-8250DEEEFABE}"/>
              </a:ext>
            </a:extLst>
          </p:cNvPr>
          <p:cNvSpPr txBox="1"/>
          <p:nvPr/>
        </p:nvSpPr>
        <p:spPr>
          <a:xfrm>
            <a:off x="8549217" y="5232400"/>
            <a:ext cx="594783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900">
                <a:solidFill>
                  <a:srgbClr val="666D75"/>
                </a:solidFill>
                <a:latin typeface="Aptos" panose="020B0004020202020204" pitchFamily="34" charset="0"/>
              </a:rPr>
              <a:t>Dec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BD03B9F-5D00-87DF-53B5-743F14E46FD1}"/>
              </a:ext>
            </a:extLst>
          </p:cNvPr>
          <p:cNvSpPr txBox="1"/>
          <p:nvPr/>
        </p:nvSpPr>
        <p:spPr>
          <a:xfrm>
            <a:off x="9601200" y="2260600"/>
            <a:ext cx="1841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700" b="1">
                <a:solidFill>
                  <a:srgbClr val="DD9A2F"/>
                </a:solidFill>
                <a:latin typeface="Aptos" panose="020B0004020202020204" pitchFamily="34" charset="0"/>
              </a:rPr>
              <a:t>Seasonality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2BC98E1-E555-3550-9A25-407D9B276327}"/>
              </a:ext>
            </a:extLst>
          </p:cNvPr>
          <p:cNvSpPr txBox="1"/>
          <p:nvPr/>
        </p:nvSpPr>
        <p:spPr>
          <a:xfrm>
            <a:off x="9601200" y="2717800"/>
            <a:ext cx="184150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24292E"/>
                </a:solidFill>
                <a:latin typeface="Aptos" panose="020B0004020202020204" pitchFamily="34" charset="0"/>
              </a:rPr>
              <a:t>February has the highest monthly average. October, January, and November are also elevated.</a:t>
            </a:r>
            <a:endParaRPr lang="fr-FR" sz="1500">
              <a:solidFill>
                <a:srgbClr val="24292E"/>
              </a:solidFill>
              <a:latin typeface="Aptos" panose="020B00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E7E631-023D-1402-7529-2134D80FA219}"/>
              </a:ext>
            </a:extLst>
          </p:cNvPr>
          <p:cNvSpPr txBox="1"/>
          <p:nvPr/>
        </p:nvSpPr>
        <p:spPr>
          <a:xfrm>
            <a:off x="9601200" y="4292600"/>
            <a:ext cx="1841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700" b="1">
                <a:solidFill>
                  <a:srgbClr val="1F6AC9"/>
                </a:solidFill>
                <a:latin typeface="Aptos" panose="020B0004020202020204" pitchFamily="34" charset="0"/>
              </a:rPr>
              <a:t>Implication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AE3D797-1CE1-77E0-A122-AD58202046E7}"/>
              </a:ext>
            </a:extLst>
          </p:cNvPr>
          <p:cNvSpPr txBox="1"/>
          <p:nvPr/>
        </p:nvSpPr>
        <p:spPr>
          <a:xfrm>
            <a:off x="9601200" y="4724400"/>
            <a:ext cx="1841500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24292E"/>
                </a:solidFill>
                <a:latin typeface="Aptos" panose="020B0004020202020204" pitchFamily="34" charset="0"/>
              </a:rPr>
              <a:t>Time patterns matter, but a 24-hour window targets the stronger short-term dependency.</a:t>
            </a:r>
            <a:endParaRPr lang="fr-FR" sz="1500">
              <a:solidFill>
                <a:srgbClr val="24292E"/>
              </a:solidFill>
              <a:latin typeface="Aptos" panose="020B00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2F61786-F0AE-16CA-B738-656898B422B7}"/>
              </a:ext>
            </a:extLst>
          </p:cNvPr>
          <p:cNvSpPr txBox="1"/>
          <p:nvPr/>
        </p:nvSpPr>
        <p:spPr>
          <a:xfrm>
            <a:off x="685800" y="6400800"/>
            <a:ext cx="355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900">
                <a:solidFill>
                  <a:srgbClr val="666D75"/>
                </a:solidFill>
                <a:latin typeface="Aptos" panose="020B0004020202020204" pitchFamily="34" charset="0"/>
              </a:rPr>
              <a:t>Beijing PM2.5 forecasting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D4AA7D3-359B-A2AF-997C-1810E373148E}"/>
              </a:ext>
            </a:extLst>
          </p:cNvPr>
          <p:cNvSpPr txBox="1"/>
          <p:nvPr/>
        </p:nvSpPr>
        <p:spPr>
          <a:xfrm>
            <a:off x="11176000" y="6400800"/>
            <a:ext cx="330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r-FR" sz="900">
                <a:solidFill>
                  <a:srgbClr val="666D75"/>
                </a:solidFill>
                <a:latin typeface="Aptos" panose="020B00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93649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92B7C1-7BE9-1E8D-ED86-DC84B4CE2AD9}"/>
              </a:ext>
            </a:extLst>
          </p:cNvPr>
          <p:cNvSpPr txBox="1"/>
          <p:nvPr/>
        </p:nvSpPr>
        <p:spPr>
          <a:xfrm>
            <a:off x="685800" y="330200"/>
            <a:ext cx="444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100" b="1">
                <a:solidFill>
                  <a:srgbClr val="1F6AC9"/>
                </a:solidFill>
                <a:latin typeface="Aptos" panose="020B0004020202020204" pitchFamily="34" charset="0"/>
              </a:rPr>
              <a:t>EDA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9212D8-BF1E-44EE-2B0F-77C879B73F67}"/>
              </a:ext>
            </a:extLst>
          </p:cNvPr>
          <p:cNvSpPr txBox="1"/>
          <p:nvPr/>
        </p:nvSpPr>
        <p:spPr>
          <a:xfrm>
            <a:off x="685800" y="6350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3000" b="1">
                <a:solidFill>
                  <a:srgbClr val="131B2B"/>
                </a:solidFill>
                <a:latin typeface="Aptos" panose="020B0004020202020204" pitchFamily="34" charset="0"/>
              </a:rPr>
              <a:t>Weather correlations are modest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243309-83F5-A685-E834-5AF09719C477}"/>
              </a:ext>
            </a:extLst>
          </p:cNvPr>
          <p:cNvSpPr/>
          <p:nvPr/>
        </p:nvSpPr>
        <p:spPr>
          <a:xfrm>
            <a:off x="685800" y="1320800"/>
            <a:ext cx="10820400" cy="25400"/>
          </a:xfrm>
          <a:prstGeom prst="rect">
            <a:avLst/>
          </a:prstGeom>
          <a:solidFill>
            <a:srgbClr val="1F6AC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F6AC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F54C09-4457-E2A1-7678-C29067E09726}"/>
              </a:ext>
            </a:extLst>
          </p:cNvPr>
          <p:cNvSpPr txBox="1"/>
          <p:nvPr/>
        </p:nvSpPr>
        <p:spPr>
          <a:xfrm>
            <a:off x="736600" y="1917700"/>
            <a:ext cx="1460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r-FR" sz="1200">
                <a:solidFill>
                  <a:srgbClr val="24292E"/>
                </a:solidFill>
                <a:latin typeface="Aptos" panose="020B0004020202020204" pitchFamily="34" charset="0"/>
              </a:rPr>
              <a:t>Wind speed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B70E62-50B5-80E1-005B-BDD640B10147}"/>
              </a:ext>
            </a:extLst>
          </p:cNvPr>
          <p:cNvSpPr/>
          <p:nvPr/>
        </p:nvSpPr>
        <p:spPr>
          <a:xfrm>
            <a:off x="2324100" y="1943100"/>
            <a:ext cx="5245100" cy="203200"/>
          </a:xfrm>
          <a:prstGeom prst="rect">
            <a:avLst/>
          </a:prstGeom>
          <a:solidFill>
            <a:srgbClr val="E2E9EE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E2E9EE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6167EA-5E96-7A87-F699-5E69F24B153D}"/>
              </a:ext>
            </a:extLst>
          </p:cNvPr>
          <p:cNvSpPr/>
          <p:nvPr/>
        </p:nvSpPr>
        <p:spPr>
          <a:xfrm>
            <a:off x="2324100" y="1943100"/>
            <a:ext cx="4724400" cy="203200"/>
          </a:xfrm>
          <a:prstGeom prst="rect">
            <a:avLst/>
          </a:prstGeom>
          <a:solidFill>
            <a:srgbClr val="1F6AC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F6AC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03033B-8658-6713-70E6-71BB0E1FC31E}"/>
              </a:ext>
            </a:extLst>
          </p:cNvPr>
          <p:cNvSpPr txBox="1"/>
          <p:nvPr/>
        </p:nvSpPr>
        <p:spPr>
          <a:xfrm>
            <a:off x="7137400" y="1917700"/>
            <a:ext cx="698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100" b="1">
                <a:solidFill>
                  <a:srgbClr val="24292E"/>
                </a:solidFill>
                <a:latin typeface="Aptos" panose="020B0004020202020204" pitchFamily="34" charset="0"/>
              </a:rPr>
              <a:t>0,23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4A550C-49FC-66F7-26CA-05480A782B8F}"/>
              </a:ext>
            </a:extLst>
          </p:cNvPr>
          <p:cNvSpPr txBox="1"/>
          <p:nvPr/>
        </p:nvSpPr>
        <p:spPr>
          <a:xfrm>
            <a:off x="736600" y="2510367"/>
            <a:ext cx="1460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r-FR" sz="1200">
                <a:solidFill>
                  <a:srgbClr val="24292E"/>
                </a:solidFill>
                <a:latin typeface="Aptos" panose="020B0004020202020204" pitchFamily="34" charset="0"/>
              </a:rPr>
              <a:t>Dew point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C660CE-02E8-DCE5-15E6-C5938113067E}"/>
              </a:ext>
            </a:extLst>
          </p:cNvPr>
          <p:cNvSpPr/>
          <p:nvPr/>
        </p:nvSpPr>
        <p:spPr>
          <a:xfrm>
            <a:off x="2324100" y="2535767"/>
            <a:ext cx="5245100" cy="203200"/>
          </a:xfrm>
          <a:prstGeom prst="rect">
            <a:avLst/>
          </a:prstGeom>
          <a:solidFill>
            <a:srgbClr val="E2E9EE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E2E9EE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4CF396-CDFF-0FB7-E835-A80F6740C4DE}"/>
              </a:ext>
            </a:extLst>
          </p:cNvPr>
          <p:cNvSpPr/>
          <p:nvPr/>
        </p:nvSpPr>
        <p:spPr>
          <a:xfrm>
            <a:off x="2324100" y="2535767"/>
            <a:ext cx="3187700" cy="203200"/>
          </a:xfrm>
          <a:prstGeom prst="rect">
            <a:avLst/>
          </a:prstGeom>
          <a:solidFill>
            <a:srgbClr val="1F6AC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F6AC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5F3665-AC43-A050-7129-D0F781017C1E}"/>
              </a:ext>
            </a:extLst>
          </p:cNvPr>
          <p:cNvSpPr txBox="1"/>
          <p:nvPr/>
        </p:nvSpPr>
        <p:spPr>
          <a:xfrm>
            <a:off x="5600700" y="2510367"/>
            <a:ext cx="698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100" b="1">
                <a:solidFill>
                  <a:srgbClr val="24292E"/>
                </a:solidFill>
                <a:latin typeface="Aptos" panose="020B0004020202020204" pitchFamily="34" charset="0"/>
              </a:rPr>
              <a:t>0,16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C4E5D9-27F6-402C-D671-2CBFE16F269F}"/>
              </a:ext>
            </a:extLst>
          </p:cNvPr>
          <p:cNvSpPr txBox="1"/>
          <p:nvPr/>
        </p:nvSpPr>
        <p:spPr>
          <a:xfrm>
            <a:off x="736600" y="3103033"/>
            <a:ext cx="1460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r-FR" sz="1200">
                <a:solidFill>
                  <a:srgbClr val="24292E"/>
                </a:solidFill>
                <a:latin typeface="Aptos" panose="020B0004020202020204" pitchFamily="34" charset="0"/>
              </a:rPr>
              <a:t>Temperature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CB7C60-6F10-2057-DBD1-5313AB5AEFF4}"/>
              </a:ext>
            </a:extLst>
          </p:cNvPr>
          <p:cNvSpPr/>
          <p:nvPr/>
        </p:nvSpPr>
        <p:spPr>
          <a:xfrm>
            <a:off x="2324100" y="3128433"/>
            <a:ext cx="5245100" cy="203200"/>
          </a:xfrm>
          <a:prstGeom prst="rect">
            <a:avLst/>
          </a:prstGeom>
          <a:solidFill>
            <a:srgbClr val="E2E9EE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E2E9EE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C08B73-1A55-DA00-6471-57A5C701AC13}"/>
              </a:ext>
            </a:extLst>
          </p:cNvPr>
          <p:cNvSpPr/>
          <p:nvPr/>
        </p:nvSpPr>
        <p:spPr>
          <a:xfrm>
            <a:off x="2324100" y="3128433"/>
            <a:ext cx="1841500" cy="203200"/>
          </a:xfrm>
          <a:prstGeom prst="rect">
            <a:avLst/>
          </a:prstGeom>
          <a:solidFill>
            <a:srgbClr val="1F6AC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F6AC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F391C2-36D8-8C58-8F85-ED29C1148A53}"/>
              </a:ext>
            </a:extLst>
          </p:cNvPr>
          <p:cNvSpPr txBox="1"/>
          <p:nvPr/>
        </p:nvSpPr>
        <p:spPr>
          <a:xfrm>
            <a:off x="4254500" y="3103033"/>
            <a:ext cx="698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100" b="1">
                <a:solidFill>
                  <a:srgbClr val="24292E"/>
                </a:solidFill>
                <a:latin typeface="Aptos" panose="020B0004020202020204" pitchFamily="34" charset="0"/>
              </a:rPr>
              <a:t>0,09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C623ED-5BFB-E947-3D74-83FB34FEE2AE}"/>
              </a:ext>
            </a:extLst>
          </p:cNvPr>
          <p:cNvSpPr txBox="1"/>
          <p:nvPr/>
        </p:nvSpPr>
        <p:spPr>
          <a:xfrm>
            <a:off x="736600" y="3695700"/>
            <a:ext cx="1460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r-FR" sz="1200">
                <a:solidFill>
                  <a:srgbClr val="24292E"/>
                </a:solidFill>
                <a:latin typeface="Aptos" panose="020B0004020202020204" pitchFamily="34" charset="0"/>
              </a:rPr>
              <a:t>Pressure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BDA962-42E0-7E29-012A-AB130AC35B46}"/>
              </a:ext>
            </a:extLst>
          </p:cNvPr>
          <p:cNvSpPr/>
          <p:nvPr/>
        </p:nvSpPr>
        <p:spPr>
          <a:xfrm>
            <a:off x="2324100" y="3721100"/>
            <a:ext cx="5245100" cy="203200"/>
          </a:xfrm>
          <a:prstGeom prst="rect">
            <a:avLst/>
          </a:prstGeom>
          <a:solidFill>
            <a:srgbClr val="E2E9EE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E2E9EE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B87F57-E94D-04F1-BF49-E0F3DE828640}"/>
              </a:ext>
            </a:extLst>
          </p:cNvPr>
          <p:cNvSpPr/>
          <p:nvPr/>
        </p:nvSpPr>
        <p:spPr>
          <a:xfrm>
            <a:off x="2324100" y="3721100"/>
            <a:ext cx="952500" cy="203200"/>
          </a:xfrm>
          <a:prstGeom prst="rect">
            <a:avLst/>
          </a:prstGeom>
          <a:solidFill>
            <a:srgbClr val="1F6AC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F6AC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18C2EE-781E-D248-82AD-E6DFB032BF9F}"/>
              </a:ext>
            </a:extLst>
          </p:cNvPr>
          <p:cNvSpPr txBox="1"/>
          <p:nvPr/>
        </p:nvSpPr>
        <p:spPr>
          <a:xfrm>
            <a:off x="3365500" y="3695700"/>
            <a:ext cx="698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100" b="1">
                <a:solidFill>
                  <a:srgbClr val="24292E"/>
                </a:solidFill>
                <a:latin typeface="Aptos" panose="020B0004020202020204" pitchFamily="34" charset="0"/>
              </a:rPr>
              <a:t>0,05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C32C1C-3D9A-D8A6-923C-89E6E4F613E0}"/>
              </a:ext>
            </a:extLst>
          </p:cNvPr>
          <p:cNvSpPr txBox="1"/>
          <p:nvPr/>
        </p:nvSpPr>
        <p:spPr>
          <a:xfrm>
            <a:off x="736600" y="4288367"/>
            <a:ext cx="1460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r-FR" sz="1200">
                <a:solidFill>
                  <a:srgbClr val="24292E"/>
                </a:solidFill>
                <a:latin typeface="Aptos" panose="020B0004020202020204" pitchFamily="34" charset="0"/>
              </a:rPr>
              <a:t>Rain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6EF8A1-A5E8-E397-2469-60D34820FEAC}"/>
              </a:ext>
            </a:extLst>
          </p:cNvPr>
          <p:cNvSpPr/>
          <p:nvPr/>
        </p:nvSpPr>
        <p:spPr>
          <a:xfrm>
            <a:off x="2324100" y="4313767"/>
            <a:ext cx="5245100" cy="203200"/>
          </a:xfrm>
          <a:prstGeom prst="rect">
            <a:avLst/>
          </a:prstGeom>
          <a:solidFill>
            <a:srgbClr val="E2E9EE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E2E9EE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0B513E3-569B-5E45-27CC-E309DC671BFA}"/>
              </a:ext>
            </a:extLst>
          </p:cNvPr>
          <p:cNvSpPr/>
          <p:nvPr/>
        </p:nvSpPr>
        <p:spPr>
          <a:xfrm>
            <a:off x="2324100" y="4313767"/>
            <a:ext cx="1028700" cy="203200"/>
          </a:xfrm>
          <a:prstGeom prst="rect">
            <a:avLst/>
          </a:prstGeom>
          <a:solidFill>
            <a:srgbClr val="1F6AC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F6AC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1D1F49-65D5-DF7A-5025-2DF7BCB265A5}"/>
              </a:ext>
            </a:extLst>
          </p:cNvPr>
          <p:cNvSpPr txBox="1"/>
          <p:nvPr/>
        </p:nvSpPr>
        <p:spPr>
          <a:xfrm>
            <a:off x="3441700" y="4288367"/>
            <a:ext cx="698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100" b="1">
                <a:solidFill>
                  <a:srgbClr val="24292E"/>
                </a:solidFill>
                <a:latin typeface="Aptos" panose="020B0004020202020204" pitchFamily="34" charset="0"/>
              </a:rPr>
              <a:t>0,05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FEF197-D63E-E33D-15AC-D2C53301689A}"/>
              </a:ext>
            </a:extLst>
          </p:cNvPr>
          <p:cNvSpPr txBox="1"/>
          <p:nvPr/>
        </p:nvSpPr>
        <p:spPr>
          <a:xfrm>
            <a:off x="736600" y="4881033"/>
            <a:ext cx="1460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r-FR" sz="1200">
                <a:solidFill>
                  <a:srgbClr val="24292E"/>
                </a:solidFill>
                <a:latin typeface="Aptos" panose="020B0004020202020204" pitchFamily="34" charset="0"/>
              </a:rPr>
              <a:t>Snow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4344389-62BB-D968-CE86-34FE277CE631}"/>
              </a:ext>
            </a:extLst>
          </p:cNvPr>
          <p:cNvSpPr/>
          <p:nvPr/>
        </p:nvSpPr>
        <p:spPr>
          <a:xfrm>
            <a:off x="2324100" y="4906433"/>
            <a:ext cx="5245100" cy="203200"/>
          </a:xfrm>
          <a:prstGeom prst="rect">
            <a:avLst/>
          </a:prstGeom>
          <a:solidFill>
            <a:srgbClr val="E2E9EE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E2E9EE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7E03F85-428A-E105-F92D-B9273213C3EE}"/>
              </a:ext>
            </a:extLst>
          </p:cNvPr>
          <p:cNvSpPr/>
          <p:nvPr/>
        </p:nvSpPr>
        <p:spPr>
          <a:xfrm>
            <a:off x="2324100" y="4906433"/>
            <a:ext cx="381000" cy="203200"/>
          </a:xfrm>
          <a:prstGeom prst="rect">
            <a:avLst/>
          </a:prstGeom>
          <a:solidFill>
            <a:srgbClr val="1F6AC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F6AC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87577E-2312-EB4B-30BB-82552DDC286F}"/>
              </a:ext>
            </a:extLst>
          </p:cNvPr>
          <p:cNvSpPr txBox="1"/>
          <p:nvPr/>
        </p:nvSpPr>
        <p:spPr>
          <a:xfrm>
            <a:off x="2794000" y="4881033"/>
            <a:ext cx="698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100" b="1">
                <a:solidFill>
                  <a:srgbClr val="24292E"/>
                </a:solidFill>
                <a:latin typeface="Aptos" panose="020B0004020202020204" pitchFamily="34" charset="0"/>
              </a:rPr>
              <a:t>0,02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A501EC-A83F-F89C-04D8-4E491766F696}"/>
              </a:ext>
            </a:extLst>
          </p:cNvPr>
          <p:cNvSpPr txBox="1"/>
          <p:nvPr/>
        </p:nvSpPr>
        <p:spPr>
          <a:xfrm>
            <a:off x="8763000" y="1968500"/>
            <a:ext cx="2667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131B2B"/>
                </a:solidFill>
                <a:latin typeface="Aptos" panose="020B0004020202020204" pitchFamily="34" charset="0"/>
              </a:rPr>
              <a:t>Wind speed has the strongest relationship with pollution, with r = -0.234.</a:t>
            </a:r>
            <a:endParaRPr lang="fr-FR" sz="1700" b="1">
              <a:solidFill>
                <a:srgbClr val="131B2B"/>
              </a:solidFill>
              <a:latin typeface="Aptos" panose="020B00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2AAC8E-F983-F002-4DE0-A4B34D6FE2FF}"/>
              </a:ext>
            </a:extLst>
          </p:cNvPr>
          <p:cNvSpPr txBox="1"/>
          <p:nvPr/>
        </p:nvSpPr>
        <p:spPr>
          <a:xfrm>
            <a:off x="8763000" y="3429000"/>
            <a:ext cx="266700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24292E"/>
                </a:solidFill>
                <a:latin typeface="Aptos" panose="020B0004020202020204" pitchFamily="34" charset="0"/>
              </a:rPr>
              <a:t>Dew point and temperature show weaker linear relationships. Weather may help with some large errors, but it is unlikely to transform every forecast.</a:t>
            </a:r>
            <a:endParaRPr lang="fr-FR" sz="1500">
              <a:solidFill>
                <a:srgbClr val="24292E"/>
              </a:solidFill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994CD5-232A-9525-A419-A6FFAE90418C}"/>
              </a:ext>
            </a:extLst>
          </p:cNvPr>
          <p:cNvSpPr txBox="1"/>
          <p:nvPr/>
        </p:nvSpPr>
        <p:spPr>
          <a:xfrm>
            <a:off x="685800" y="6400800"/>
            <a:ext cx="355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900">
                <a:solidFill>
                  <a:srgbClr val="666D75"/>
                </a:solidFill>
                <a:latin typeface="Aptos" panose="020B0004020202020204" pitchFamily="34" charset="0"/>
              </a:rPr>
              <a:t>Beijing PM2.5 forecasting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5241ED-AA78-D79C-AF02-3F98FB17184E}"/>
              </a:ext>
            </a:extLst>
          </p:cNvPr>
          <p:cNvSpPr txBox="1"/>
          <p:nvPr/>
        </p:nvSpPr>
        <p:spPr>
          <a:xfrm>
            <a:off x="11176000" y="6400800"/>
            <a:ext cx="330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r-FR" sz="900">
                <a:solidFill>
                  <a:srgbClr val="666D75"/>
                </a:solidFill>
                <a:latin typeface="Aptos" panose="020B00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59274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A48ED2-E49A-42D4-FA0A-28F8556ADE4F}"/>
              </a:ext>
            </a:extLst>
          </p:cNvPr>
          <p:cNvSpPr txBox="1"/>
          <p:nvPr/>
        </p:nvSpPr>
        <p:spPr>
          <a:xfrm>
            <a:off x="685800" y="330200"/>
            <a:ext cx="444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100" b="1">
                <a:solidFill>
                  <a:srgbClr val="1F6AC9"/>
                </a:solidFill>
                <a:latin typeface="Aptos" panose="020B0004020202020204" pitchFamily="34" charset="0"/>
              </a:rPr>
              <a:t>METHOD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9FE437-7524-B847-1E5C-FBC04986FA6D}"/>
              </a:ext>
            </a:extLst>
          </p:cNvPr>
          <p:cNvSpPr txBox="1"/>
          <p:nvPr/>
        </p:nvSpPr>
        <p:spPr>
          <a:xfrm>
            <a:off x="685800" y="6350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3000" b="1">
                <a:solidFill>
                  <a:srgbClr val="131B2B"/>
                </a:solidFill>
                <a:latin typeface="Aptos" panose="020B0004020202020204" pitchFamily="34" charset="0"/>
              </a:rPr>
              <a:t>Preprocessing pipeline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9A2BF7-B008-87C5-4D0E-B8E167EA4033}"/>
              </a:ext>
            </a:extLst>
          </p:cNvPr>
          <p:cNvSpPr/>
          <p:nvPr/>
        </p:nvSpPr>
        <p:spPr>
          <a:xfrm>
            <a:off x="685800" y="1320800"/>
            <a:ext cx="10820400" cy="25400"/>
          </a:xfrm>
          <a:prstGeom prst="rect">
            <a:avLst/>
          </a:prstGeom>
          <a:solidFill>
            <a:srgbClr val="1F6AC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F6AC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E4DB4D-423D-2B3F-BC8A-CA3AE1715BE5}"/>
              </a:ext>
            </a:extLst>
          </p:cNvPr>
          <p:cNvSpPr txBox="1"/>
          <p:nvPr/>
        </p:nvSpPr>
        <p:spPr>
          <a:xfrm>
            <a:off x="736600" y="16764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b="1">
                <a:solidFill>
                  <a:srgbClr val="DD9A2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F075BF-A9EA-530F-0C5D-D8DB4032551E}"/>
              </a:ext>
            </a:extLst>
          </p:cNvPr>
          <p:cNvSpPr txBox="1"/>
          <p:nvPr/>
        </p:nvSpPr>
        <p:spPr>
          <a:xfrm>
            <a:off x="1422400" y="16764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b="1">
                <a:solidFill>
                  <a:srgbClr val="131B2B"/>
                </a:solidFill>
                <a:latin typeface="Aptos" panose="020B0004020202020204" pitchFamily="34" charset="0"/>
              </a:rPr>
              <a:t>Sort chronologically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6944C1-2898-639A-4EFD-3E2E305D9389}"/>
              </a:ext>
            </a:extLst>
          </p:cNvPr>
          <p:cNvSpPr txBox="1"/>
          <p:nvPr/>
        </p:nvSpPr>
        <p:spPr>
          <a:xfrm>
            <a:off x="4521200" y="1689100"/>
            <a:ext cx="635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24292E"/>
                </a:solidFill>
                <a:latin typeface="Aptos" panose="020B0004020202020204" pitchFamily="34" charset="0"/>
              </a:rPr>
              <a:t>Parse timestamps and preserve temporal order.</a:t>
            </a:r>
            <a:endParaRPr lang="fr-FR" sz="1500">
              <a:solidFill>
                <a:srgbClr val="24292E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52B3E5-33B7-3618-ABC0-17DBCC666074}"/>
              </a:ext>
            </a:extLst>
          </p:cNvPr>
          <p:cNvSpPr/>
          <p:nvPr/>
        </p:nvSpPr>
        <p:spPr>
          <a:xfrm>
            <a:off x="1422400" y="2222500"/>
            <a:ext cx="9448800" cy="12700"/>
          </a:xfrm>
          <a:prstGeom prst="rect">
            <a:avLst/>
          </a:prstGeom>
          <a:solidFill>
            <a:srgbClr val="D0D8DE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D0D8DE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20754B-95C6-46F4-7368-ABE80B2E4E59}"/>
              </a:ext>
            </a:extLst>
          </p:cNvPr>
          <p:cNvSpPr txBox="1"/>
          <p:nvPr/>
        </p:nvSpPr>
        <p:spPr>
          <a:xfrm>
            <a:off x="736600" y="25400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b="1">
                <a:solidFill>
                  <a:srgbClr val="DD9A2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470476-C436-86FF-94B2-4B32B0F27F94}"/>
              </a:ext>
            </a:extLst>
          </p:cNvPr>
          <p:cNvSpPr txBox="1"/>
          <p:nvPr/>
        </p:nvSpPr>
        <p:spPr>
          <a:xfrm>
            <a:off x="1422400" y="2540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b="1">
                <a:solidFill>
                  <a:srgbClr val="131B2B"/>
                </a:solidFill>
                <a:latin typeface="Aptos" panose="020B0004020202020204" pitchFamily="34" charset="0"/>
              </a:rPr>
              <a:t>Handle missing values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F5583B-E438-5DF8-0300-BBA12029123F}"/>
              </a:ext>
            </a:extLst>
          </p:cNvPr>
          <p:cNvSpPr txBox="1"/>
          <p:nvPr/>
        </p:nvSpPr>
        <p:spPr>
          <a:xfrm>
            <a:off x="4521200" y="2552700"/>
            <a:ext cx="635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24292E"/>
                </a:solidFill>
                <a:latin typeface="Aptos" panose="020B0004020202020204" pitchFamily="34" charset="0"/>
              </a:rPr>
              <a:t>Forward fill only, then drop unresolved rows.</a:t>
            </a:r>
            <a:endParaRPr lang="fr-FR" sz="1500">
              <a:solidFill>
                <a:srgbClr val="24292E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BE171A-B7EF-906F-BB6C-937652A96A29}"/>
              </a:ext>
            </a:extLst>
          </p:cNvPr>
          <p:cNvSpPr/>
          <p:nvPr/>
        </p:nvSpPr>
        <p:spPr>
          <a:xfrm>
            <a:off x="1422400" y="3086100"/>
            <a:ext cx="9448800" cy="12700"/>
          </a:xfrm>
          <a:prstGeom prst="rect">
            <a:avLst/>
          </a:prstGeom>
          <a:solidFill>
            <a:srgbClr val="D0D8DE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D0D8DE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A236B9-638A-831C-8A42-71CB1856404E}"/>
              </a:ext>
            </a:extLst>
          </p:cNvPr>
          <p:cNvSpPr txBox="1"/>
          <p:nvPr/>
        </p:nvSpPr>
        <p:spPr>
          <a:xfrm>
            <a:off x="736600" y="34036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b="1">
                <a:solidFill>
                  <a:srgbClr val="DD9A2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AD1822-5F76-BABA-343C-A0348D7F3197}"/>
              </a:ext>
            </a:extLst>
          </p:cNvPr>
          <p:cNvSpPr txBox="1"/>
          <p:nvPr/>
        </p:nvSpPr>
        <p:spPr>
          <a:xfrm>
            <a:off x="1422400" y="34036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b="1">
                <a:solidFill>
                  <a:srgbClr val="131B2B"/>
                </a:solidFill>
                <a:latin typeface="Aptos" panose="020B0004020202020204" pitchFamily="34" charset="0"/>
              </a:rPr>
              <a:t>Encode wind direction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C0F022-5F95-AA4F-52A5-93963EFF9D8F}"/>
              </a:ext>
            </a:extLst>
          </p:cNvPr>
          <p:cNvSpPr txBox="1"/>
          <p:nvPr/>
        </p:nvSpPr>
        <p:spPr>
          <a:xfrm>
            <a:off x="4521200" y="3416300"/>
            <a:ext cx="635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24292E"/>
                </a:solidFill>
                <a:latin typeface="Aptos" panose="020B0004020202020204" pitchFamily="34" charset="0"/>
              </a:rPr>
              <a:t>Use sine, cosine, and a calm/variable indicator.</a:t>
            </a:r>
            <a:endParaRPr lang="fr-FR" sz="1500">
              <a:solidFill>
                <a:srgbClr val="24292E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00D1E3-637D-1A0F-230A-A51BF44C9E13}"/>
              </a:ext>
            </a:extLst>
          </p:cNvPr>
          <p:cNvSpPr/>
          <p:nvPr/>
        </p:nvSpPr>
        <p:spPr>
          <a:xfrm>
            <a:off x="1422400" y="3949700"/>
            <a:ext cx="9448800" cy="12700"/>
          </a:xfrm>
          <a:prstGeom prst="rect">
            <a:avLst/>
          </a:prstGeom>
          <a:solidFill>
            <a:srgbClr val="D0D8DE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D0D8DE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35A52A-5F39-7FC1-EECB-562EC6C4FD77}"/>
              </a:ext>
            </a:extLst>
          </p:cNvPr>
          <p:cNvSpPr txBox="1"/>
          <p:nvPr/>
        </p:nvSpPr>
        <p:spPr>
          <a:xfrm>
            <a:off x="736600" y="42672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b="1">
                <a:solidFill>
                  <a:srgbClr val="DD9A2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6D422B-843A-765A-5A3A-26006E3CBD1D}"/>
              </a:ext>
            </a:extLst>
          </p:cNvPr>
          <p:cNvSpPr txBox="1"/>
          <p:nvPr/>
        </p:nvSpPr>
        <p:spPr>
          <a:xfrm>
            <a:off x="1422400" y="42672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b="1">
                <a:solidFill>
                  <a:srgbClr val="131B2B"/>
                </a:solidFill>
                <a:latin typeface="Aptos" panose="020B0004020202020204" pitchFamily="34" charset="0"/>
              </a:rPr>
              <a:t>Split by time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0E0885-4664-1985-2111-F9EC87FF16BC}"/>
              </a:ext>
            </a:extLst>
          </p:cNvPr>
          <p:cNvSpPr txBox="1"/>
          <p:nvPr/>
        </p:nvSpPr>
        <p:spPr>
          <a:xfrm>
            <a:off x="4521200" y="4279900"/>
            <a:ext cx="635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24292E"/>
                </a:solidFill>
                <a:latin typeface="Aptos" panose="020B0004020202020204" pitchFamily="34" charset="0"/>
              </a:rPr>
              <a:t>80% train and 20% test without shuffling.</a:t>
            </a:r>
            <a:endParaRPr lang="fr-FR" sz="1500">
              <a:solidFill>
                <a:srgbClr val="24292E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8972A9-77BE-CA7A-AC97-CC56BCF787A7}"/>
              </a:ext>
            </a:extLst>
          </p:cNvPr>
          <p:cNvSpPr/>
          <p:nvPr/>
        </p:nvSpPr>
        <p:spPr>
          <a:xfrm>
            <a:off x="1422400" y="4813300"/>
            <a:ext cx="9448800" cy="12700"/>
          </a:xfrm>
          <a:prstGeom prst="rect">
            <a:avLst/>
          </a:prstGeom>
          <a:solidFill>
            <a:srgbClr val="D0D8DE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D0D8DE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98E7C9-93DA-A16B-0B1C-C6B0B21C8B49}"/>
              </a:ext>
            </a:extLst>
          </p:cNvPr>
          <p:cNvSpPr txBox="1"/>
          <p:nvPr/>
        </p:nvSpPr>
        <p:spPr>
          <a:xfrm>
            <a:off x="736600" y="51308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b="1">
                <a:solidFill>
                  <a:srgbClr val="DD9A2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626301-4DE8-F628-8FE9-26F193E4EECE}"/>
              </a:ext>
            </a:extLst>
          </p:cNvPr>
          <p:cNvSpPr txBox="1"/>
          <p:nvPr/>
        </p:nvSpPr>
        <p:spPr>
          <a:xfrm>
            <a:off x="1422400" y="51308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b="1">
                <a:solidFill>
                  <a:srgbClr val="131B2B"/>
                </a:solidFill>
                <a:latin typeface="Aptos" panose="020B0004020202020204" pitchFamily="34" charset="0"/>
              </a:rPr>
              <a:t>Scale safely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E1CF9B-5529-6E52-8B59-8C4D61C347FF}"/>
              </a:ext>
            </a:extLst>
          </p:cNvPr>
          <p:cNvSpPr txBox="1"/>
          <p:nvPr/>
        </p:nvSpPr>
        <p:spPr>
          <a:xfrm>
            <a:off x="4521200" y="5143500"/>
            <a:ext cx="635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24292E"/>
                </a:solidFill>
                <a:latin typeface="Aptos" panose="020B0004020202020204" pitchFamily="34" charset="0"/>
              </a:rPr>
              <a:t>Fit MinMaxScaler on training data only.</a:t>
            </a:r>
            <a:endParaRPr lang="fr-FR" sz="1500">
              <a:solidFill>
                <a:srgbClr val="24292E"/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0A8053-734B-8F53-31A7-73AF2C7198AE}"/>
              </a:ext>
            </a:extLst>
          </p:cNvPr>
          <p:cNvSpPr/>
          <p:nvPr/>
        </p:nvSpPr>
        <p:spPr>
          <a:xfrm>
            <a:off x="1422400" y="5676900"/>
            <a:ext cx="9448800" cy="12700"/>
          </a:xfrm>
          <a:prstGeom prst="rect">
            <a:avLst/>
          </a:prstGeom>
          <a:solidFill>
            <a:srgbClr val="D0D8DE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D0D8DE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E70189-6E53-7799-387A-5A1481453E77}"/>
              </a:ext>
            </a:extLst>
          </p:cNvPr>
          <p:cNvSpPr txBox="1"/>
          <p:nvPr/>
        </p:nvSpPr>
        <p:spPr>
          <a:xfrm>
            <a:off x="685800" y="6400800"/>
            <a:ext cx="355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900">
                <a:solidFill>
                  <a:srgbClr val="666D75"/>
                </a:solidFill>
                <a:latin typeface="Aptos" panose="020B0004020202020204" pitchFamily="34" charset="0"/>
              </a:rPr>
              <a:t>Beijing PM2.5 forecasting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FBAD92-FB27-7B31-6DBC-94D21F4010ED}"/>
              </a:ext>
            </a:extLst>
          </p:cNvPr>
          <p:cNvSpPr txBox="1"/>
          <p:nvPr/>
        </p:nvSpPr>
        <p:spPr>
          <a:xfrm>
            <a:off x="11176000" y="6400800"/>
            <a:ext cx="330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r-FR" sz="900">
                <a:solidFill>
                  <a:srgbClr val="666D75"/>
                </a:solidFill>
                <a:latin typeface="Aptos" panose="020B0004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680631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4DB093-E0C3-034F-EDC1-0E9C3D60CC43}"/>
              </a:ext>
            </a:extLst>
          </p:cNvPr>
          <p:cNvSpPr txBox="1"/>
          <p:nvPr/>
        </p:nvSpPr>
        <p:spPr>
          <a:xfrm>
            <a:off x="685800" y="330200"/>
            <a:ext cx="444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100" b="1">
                <a:solidFill>
                  <a:srgbClr val="1F6AC9"/>
                </a:solidFill>
                <a:latin typeface="Aptos" panose="020B0004020202020204" pitchFamily="34" charset="0"/>
              </a:rPr>
              <a:t>METHOD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3BEB57-0A5E-2BF4-71EA-9A78391B8D1C}"/>
              </a:ext>
            </a:extLst>
          </p:cNvPr>
          <p:cNvSpPr txBox="1"/>
          <p:nvPr/>
        </p:nvSpPr>
        <p:spPr>
          <a:xfrm>
            <a:off x="685800" y="6350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131B2B"/>
                </a:solidFill>
                <a:latin typeface="Aptos" panose="020B0004020202020204" pitchFamily="34" charset="0"/>
              </a:rPr>
              <a:t>Sliding windows and evaluation design</a:t>
            </a:r>
            <a:endParaRPr lang="fr-FR" sz="3000" b="1">
              <a:solidFill>
                <a:srgbClr val="131B2B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3CCCDC-FF2C-7B84-0B81-6C833640DA50}"/>
              </a:ext>
            </a:extLst>
          </p:cNvPr>
          <p:cNvSpPr/>
          <p:nvPr/>
        </p:nvSpPr>
        <p:spPr>
          <a:xfrm>
            <a:off x="685800" y="1320800"/>
            <a:ext cx="10820400" cy="25400"/>
          </a:xfrm>
          <a:prstGeom prst="rect">
            <a:avLst/>
          </a:prstGeom>
          <a:solidFill>
            <a:srgbClr val="1F6AC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F6AC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CBBC1F-3E34-113C-0994-F3F584DF3EA7}"/>
              </a:ext>
            </a:extLst>
          </p:cNvPr>
          <p:cNvSpPr txBox="1"/>
          <p:nvPr/>
        </p:nvSpPr>
        <p:spPr>
          <a:xfrm>
            <a:off x="736600" y="1778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b="1">
                <a:solidFill>
                  <a:srgbClr val="1F6AC9"/>
                </a:solidFill>
                <a:latin typeface="Aptos" panose="020B0004020202020204" pitchFamily="34" charset="0"/>
              </a:rPr>
              <a:t>Input window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63185B-D250-C123-AAFE-39D0A7267CCA}"/>
              </a:ext>
            </a:extLst>
          </p:cNvPr>
          <p:cNvSpPr/>
          <p:nvPr/>
        </p:nvSpPr>
        <p:spPr>
          <a:xfrm>
            <a:off x="736600" y="2413000"/>
            <a:ext cx="431800" cy="533400"/>
          </a:xfrm>
          <a:prstGeom prst="rect">
            <a:avLst/>
          </a:prstGeom>
          <a:solidFill>
            <a:srgbClr val="D4E5F1"/>
          </a:solidFill>
          <a:ln w="12700">
            <a:solidFill>
              <a:srgbClr val="1F6A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AFE698-53CE-853A-7D42-BF94950AA0B4}"/>
              </a:ext>
            </a:extLst>
          </p:cNvPr>
          <p:cNvSpPr/>
          <p:nvPr/>
        </p:nvSpPr>
        <p:spPr>
          <a:xfrm>
            <a:off x="1270000" y="2413000"/>
            <a:ext cx="431800" cy="533400"/>
          </a:xfrm>
          <a:prstGeom prst="rect">
            <a:avLst/>
          </a:prstGeom>
          <a:solidFill>
            <a:srgbClr val="D4E5F1"/>
          </a:solidFill>
          <a:ln w="12700">
            <a:solidFill>
              <a:srgbClr val="1F6A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D47CF2-AABF-0FE5-5E2F-0CD862F484AF}"/>
              </a:ext>
            </a:extLst>
          </p:cNvPr>
          <p:cNvSpPr/>
          <p:nvPr/>
        </p:nvSpPr>
        <p:spPr>
          <a:xfrm>
            <a:off x="1803400" y="2413000"/>
            <a:ext cx="431800" cy="533400"/>
          </a:xfrm>
          <a:prstGeom prst="rect">
            <a:avLst/>
          </a:prstGeom>
          <a:solidFill>
            <a:srgbClr val="D4E5F1"/>
          </a:solidFill>
          <a:ln w="12700">
            <a:solidFill>
              <a:srgbClr val="1F6A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2D9677-A2BE-95F2-9941-0F0013FB7894}"/>
              </a:ext>
            </a:extLst>
          </p:cNvPr>
          <p:cNvSpPr/>
          <p:nvPr/>
        </p:nvSpPr>
        <p:spPr>
          <a:xfrm>
            <a:off x="2336800" y="2413000"/>
            <a:ext cx="431800" cy="533400"/>
          </a:xfrm>
          <a:prstGeom prst="rect">
            <a:avLst/>
          </a:prstGeom>
          <a:solidFill>
            <a:srgbClr val="D4E5F1"/>
          </a:solidFill>
          <a:ln w="12700">
            <a:solidFill>
              <a:srgbClr val="1F6A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27A195-2329-D1B9-7266-E9F9341ABAA8}"/>
              </a:ext>
            </a:extLst>
          </p:cNvPr>
          <p:cNvSpPr/>
          <p:nvPr/>
        </p:nvSpPr>
        <p:spPr>
          <a:xfrm>
            <a:off x="2870200" y="2413000"/>
            <a:ext cx="431800" cy="533400"/>
          </a:xfrm>
          <a:prstGeom prst="rect">
            <a:avLst/>
          </a:prstGeom>
          <a:solidFill>
            <a:srgbClr val="D4E5F1"/>
          </a:solidFill>
          <a:ln w="12700">
            <a:solidFill>
              <a:srgbClr val="1F6A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CDE89E-8356-5C1B-317B-49E31DCC0443}"/>
              </a:ext>
            </a:extLst>
          </p:cNvPr>
          <p:cNvSpPr/>
          <p:nvPr/>
        </p:nvSpPr>
        <p:spPr>
          <a:xfrm>
            <a:off x="3403600" y="2413000"/>
            <a:ext cx="431800" cy="533400"/>
          </a:xfrm>
          <a:prstGeom prst="rect">
            <a:avLst/>
          </a:prstGeom>
          <a:solidFill>
            <a:srgbClr val="D4E5F1"/>
          </a:solidFill>
          <a:ln w="12700">
            <a:solidFill>
              <a:srgbClr val="1F6A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DCE0A4-9B5D-756C-023F-CB60F0F5EEA3}"/>
              </a:ext>
            </a:extLst>
          </p:cNvPr>
          <p:cNvSpPr/>
          <p:nvPr/>
        </p:nvSpPr>
        <p:spPr>
          <a:xfrm>
            <a:off x="3937000" y="2413000"/>
            <a:ext cx="431800" cy="533400"/>
          </a:xfrm>
          <a:prstGeom prst="rect">
            <a:avLst/>
          </a:prstGeom>
          <a:solidFill>
            <a:srgbClr val="D4E5F1"/>
          </a:solidFill>
          <a:ln w="12700">
            <a:solidFill>
              <a:srgbClr val="1F6A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0AF44F-4388-EF85-F337-F786C529D9A7}"/>
              </a:ext>
            </a:extLst>
          </p:cNvPr>
          <p:cNvSpPr/>
          <p:nvPr/>
        </p:nvSpPr>
        <p:spPr>
          <a:xfrm>
            <a:off x="4470400" y="2413000"/>
            <a:ext cx="431800" cy="533400"/>
          </a:xfrm>
          <a:prstGeom prst="rect">
            <a:avLst/>
          </a:prstGeom>
          <a:solidFill>
            <a:srgbClr val="D4E5F1"/>
          </a:solidFill>
          <a:ln w="12700">
            <a:solidFill>
              <a:srgbClr val="1F6A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C63076-46F1-5D8F-2EDC-BA03DCAAF2A2}"/>
              </a:ext>
            </a:extLst>
          </p:cNvPr>
          <p:cNvSpPr/>
          <p:nvPr/>
        </p:nvSpPr>
        <p:spPr>
          <a:xfrm>
            <a:off x="5003800" y="2413000"/>
            <a:ext cx="431800" cy="533400"/>
          </a:xfrm>
          <a:prstGeom prst="rect">
            <a:avLst/>
          </a:prstGeom>
          <a:solidFill>
            <a:srgbClr val="D4E5F1"/>
          </a:solidFill>
          <a:ln w="12700">
            <a:solidFill>
              <a:srgbClr val="1F6A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A3E2FD-1898-07FB-7506-F1FEAB661AF1}"/>
              </a:ext>
            </a:extLst>
          </p:cNvPr>
          <p:cNvSpPr/>
          <p:nvPr/>
        </p:nvSpPr>
        <p:spPr>
          <a:xfrm>
            <a:off x="5537200" y="2413000"/>
            <a:ext cx="431800" cy="533400"/>
          </a:xfrm>
          <a:prstGeom prst="rect">
            <a:avLst/>
          </a:prstGeom>
          <a:solidFill>
            <a:srgbClr val="D4E5F1"/>
          </a:solidFill>
          <a:ln w="12700">
            <a:solidFill>
              <a:srgbClr val="1F6A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0B3873-D41C-D465-82CE-2FE5F65438BB}"/>
              </a:ext>
            </a:extLst>
          </p:cNvPr>
          <p:cNvSpPr/>
          <p:nvPr/>
        </p:nvSpPr>
        <p:spPr>
          <a:xfrm>
            <a:off x="6070600" y="2413000"/>
            <a:ext cx="431800" cy="533400"/>
          </a:xfrm>
          <a:prstGeom prst="rect">
            <a:avLst/>
          </a:prstGeom>
          <a:solidFill>
            <a:srgbClr val="D4E5F1"/>
          </a:solidFill>
          <a:ln w="12700">
            <a:solidFill>
              <a:srgbClr val="1F6A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AAF5E1-BAEF-18C8-7864-E73B1A9F329F}"/>
              </a:ext>
            </a:extLst>
          </p:cNvPr>
          <p:cNvSpPr/>
          <p:nvPr/>
        </p:nvSpPr>
        <p:spPr>
          <a:xfrm>
            <a:off x="6604000" y="2413000"/>
            <a:ext cx="431800" cy="533400"/>
          </a:xfrm>
          <a:prstGeom prst="rect">
            <a:avLst/>
          </a:prstGeom>
          <a:solidFill>
            <a:srgbClr val="DD9A2F"/>
          </a:solidFill>
          <a:ln w="12700">
            <a:solidFill>
              <a:srgbClr val="1F6A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29E4FA-7F5B-AB4F-C752-6D96A2D9C742}"/>
              </a:ext>
            </a:extLst>
          </p:cNvPr>
          <p:cNvSpPr txBox="1"/>
          <p:nvPr/>
        </p:nvSpPr>
        <p:spPr>
          <a:xfrm>
            <a:off x="736600" y="3073400"/>
            <a:ext cx="660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24292E"/>
                </a:solidFill>
                <a:latin typeface="Aptos" panose="020B0004020202020204" pitchFamily="34" charset="0"/>
              </a:rPr>
              <a:t>24 known hours: t-23 through t</a:t>
            </a:r>
            <a:endParaRPr lang="fr-FR" sz="1600" b="1">
              <a:solidFill>
                <a:srgbClr val="24292E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65E506-AAE0-939C-F714-3D39F35DDE4B}"/>
              </a:ext>
            </a:extLst>
          </p:cNvPr>
          <p:cNvSpPr/>
          <p:nvPr/>
        </p:nvSpPr>
        <p:spPr>
          <a:xfrm>
            <a:off x="7747000" y="2362200"/>
            <a:ext cx="863600" cy="635000"/>
          </a:xfrm>
          <a:prstGeom prst="rect">
            <a:avLst/>
          </a:prstGeom>
          <a:solidFill>
            <a:srgbClr val="D7E2F3"/>
          </a:solidFill>
          <a:ln w="12700">
            <a:solidFill>
              <a:srgbClr val="C7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7F102F-0CFD-FFDB-7FA5-9D6AA479FFFC}"/>
              </a:ext>
            </a:extLst>
          </p:cNvPr>
          <p:cNvSpPr txBox="1"/>
          <p:nvPr/>
        </p:nvSpPr>
        <p:spPr>
          <a:xfrm>
            <a:off x="7747000" y="2527300"/>
            <a:ext cx="86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b="1">
                <a:solidFill>
                  <a:srgbClr val="C75555"/>
                </a:solidFill>
                <a:latin typeface="Aptos" panose="020B0004020202020204" pitchFamily="34" charset="0"/>
              </a:rPr>
              <a:t>t+1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DDF116-1B2B-A8B6-5112-005B978DCF02}"/>
              </a:ext>
            </a:extLst>
          </p:cNvPr>
          <p:cNvSpPr txBox="1"/>
          <p:nvPr/>
        </p:nvSpPr>
        <p:spPr>
          <a:xfrm>
            <a:off x="8826500" y="2514600"/>
            <a:ext cx="215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700" b="1">
                <a:solidFill>
                  <a:srgbClr val="24292E"/>
                </a:solidFill>
                <a:latin typeface="Aptos" panose="020B0004020202020204" pitchFamily="34" charset="0"/>
              </a:rPr>
              <a:t>Next-hour target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2088E9-E2B4-3F0E-F312-2227ED16EC14}"/>
              </a:ext>
            </a:extLst>
          </p:cNvPr>
          <p:cNvSpPr txBox="1"/>
          <p:nvPr/>
        </p:nvSpPr>
        <p:spPr>
          <a:xfrm>
            <a:off x="736600" y="4165600"/>
            <a:ext cx="4191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2000" b="1">
                <a:solidFill>
                  <a:srgbClr val="131B2B"/>
                </a:solidFill>
                <a:latin typeface="Aptos" panose="020B0004020202020204" pitchFamily="34" charset="0"/>
              </a:rPr>
              <a:t>35,040 training hours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DA198B-658A-56D9-2CE0-F756BB6FEC15}"/>
              </a:ext>
            </a:extLst>
          </p:cNvPr>
          <p:cNvSpPr txBox="1"/>
          <p:nvPr/>
        </p:nvSpPr>
        <p:spPr>
          <a:xfrm>
            <a:off x="736600" y="4610100"/>
            <a:ext cx="3302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500">
                <a:solidFill>
                  <a:srgbClr val="666D75"/>
                </a:solidFill>
                <a:latin typeface="Aptos" panose="020B0004020202020204" pitchFamily="34" charset="0"/>
              </a:rPr>
              <a:t>2010-2013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B1D1A3-A62F-252F-12BD-525CCDC86002}"/>
              </a:ext>
            </a:extLst>
          </p:cNvPr>
          <p:cNvSpPr txBox="1"/>
          <p:nvPr/>
        </p:nvSpPr>
        <p:spPr>
          <a:xfrm>
            <a:off x="6680200" y="4165600"/>
            <a:ext cx="4191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2000" b="1">
                <a:solidFill>
                  <a:srgbClr val="131B2B"/>
                </a:solidFill>
                <a:latin typeface="Aptos" panose="020B0004020202020204" pitchFamily="34" charset="0"/>
              </a:rPr>
              <a:t>8,760 test hours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183D1F-277A-5A70-9466-6E4314B39CCD}"/>
              </a:ext>
            </a:extLst>
          </p:cNvPr>
          <p:cNvSpPr txBox="1"/>
          <p:nvPr/>
        </p:nvSpPr>
        <p:spPr>
          <a:xfrm>
            <a:off x="6680200" y="4610100"/>
            <a:ext cx="381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500">
                <a:solidFill>
                  <a:srgbClr val="666D75"/>
                </a:solidFill>
                <a:latin typeface="Aptos" panose="020B0004020202020204" pitchFamily="34" charset="0"/>
              </a:rPr>
              <a:t>2014, held out chronologically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EEE4103-48BE-ACF3-00A2-8153C551C67E}"/>
              </a:ext>
            </a:extLst>
          </p:cNvPr>
          <p:cNvSpPr/>
          <p:nvPr/>
        </p:nvSpPr>
        <p:spPr>
          <a:xfrm>
            <a:off x="736600" y="5257800"/>
            <a:ext cx="5207000" cy="177800"/>
          </a:xfrm>
          <a:prstGeom prst="rect">
            <a:avLst/>
          </a:prstGeom>
          <a:solidFill>
            <a:srgbClr val="1F6AC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F6AC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B7F7D57-860F-52BA-6AF2-23B044581C56}"/>
              </a:ext>
            </a:extLst>
          </p:cNvPr>
          <p:cNvSpPr/>
          <p:nvPr/>
        </p:nvSpPr>
        <p:spPr>
          <a:xfrm>
            <a:off x="5943600" y="5257800"/>
            <a:ext cx="1308100" cy="177800"/>
          </a:xfrm>
          <a:prstGeom prst="rect">
            <a:avLst/>
          </a:prstGeom>
          <a:solidFill>
            <a:srgbClr val="DD9A2F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DD9A2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E1CE1B-019D-4469-993A-7530077ED50F}"/>
              </a:ext>
            </a:extLst>
          </p:cNvPr>
          <p:cNvSpPr txBox="1"/>
          <p:nvPr/>
        </p:nvSpPr>
        <p:spPr>
          <a:xfrm>
            <a:off x="736600" y="5664200"/>
            <a:ext cx="9906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24292E"/>
                </a:solidFill>
                <a:latin typeface="Aptos" panose="020B0004020202020204" pitchFamily="34" charset="0"/>
              </a:rPr>
              <a:t>No shuffling and no test information enters scaling or training.</a:t>
            </a:r>
            <a:endParaRPr lang="fr-FR" sz="1500">
              <a:solidFill>
                <a:srgbClr val="24292E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E1760D-77B4-CBBB-6614-D02A3961D516}"/>
              </a:ext>
            </a:extLst>
          </p:cNvPr>
          <p:cNvSpPr txBox="1"/>
          <p:nvPr/>
        </p:nvSpPr>
        <p:spPr>
          <a:xfrm>
            <a:off x="685800" y="6400800"/>
            <a:ext cx="355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900">
                <a:solidFill>
                  <a:srgbClr val="666D75"/>
                </a:solidFill>
                <a:latin typeface="Aptos" panose="020B0004020202020204" pitchFamily="34" charset="0"/>
              </a:rPr>
              <a:t>Beijing PM2.5 forecasting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EFBC59-193A-3BCD-15F7-853FA9A72F4B}"/>
              </a:ext>
            </a:extLst>
          </p:cNvPr>
          <p:cNvSpPr txBox="1"/>
          <p:nvPr/>
        </p:nvSpPr>
        <p:spPr>
          <a:xfrm>
            <a:off x="11176000" y="6400800"/>
            <a:ext cx="330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r-FR" sz="900">
                <a:solidFill>
                  <a:srgbClr val="666D75"/>
                </a:solidFill>
                <a:latin typeface="Aptos" panose="020B000402020202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661528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1F4A3B-06FE-5238-5020-CD833DF359FE}"/>
              </a:ext>
            </a:extLst>
          </p:cNvPr>
          <p:cNvSpPr txBox="1"/>
          <p:nvPr/>
        </p:nvSpPr>
        <p:spPr>
          <a:xfrm>
            <a:off x="685800" y="330200"/>
            <a:ext cx="444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100" b="1">
                <a:solidFill>
                  <a:srgbClr val="1F6AC9"/>
                </a:solidFill>
                <a:latin typeface="Aptos" panose="020B0004020202020204" pitchFamily="34" charset="0"/>
              </a:rPr>
              <a:t>MODELS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5BED96-1559-11A4-577D-2E181DB2FE57}"/>
              </a:ext>
            </a:extLst>
          </p:cNvPr>
          <p:cNvSpPr txBox="1"/>
          <p:nvPr/>
        </p:nvSpPr>
        <p:spPr>
          <a:xfrm>
            <a:off x="685800" y="6350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131B2B"/>
                </a:solidFill>
                <a:latin typeface="Aptos" panose="020B0004020202020204" pitchFamily="34" charset="0"/>
              </a:rPr>
              <a:t>How the sequence models differ</a:t>
            </a:r>
            <a:endParaRPr lang="fr-FR" sz="3000" b="1">
              <a:solidFill>
                <a:srgbClr val="131B2B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8E5778-4541-76BF-1DC1-C82AFAAD5897}"/>
              </a:ext>
            </a:extLst>
          </p:cNvPr>
          <p:cNvSpPr/>
          <p:nvPr/>
        </p:nvSpPr>
        <p:spPr>
          <a:xfrm>
            <a:off x="685800" y="1320800"/>
            <a:ext cx="10820400" cy="25400"/>
          </a:xfrm>
          <a:prstGeom prst="rect">
            <a:avLst/>
          </a:prstGeom>
          <a:solidFill>
            <a:srgbClr val="1F6AC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F6AC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AF5282-378C-041F-4B65-32BF2F322C40}"/>
              </a:ext>
            </a:extLst>
          </p:cNvPr>
          <p:cNvSpPr txBox="1"/>
          <p:nvPr/>
        </p:nvSpPr>
        <p:spPr>
          <a:xfrm>
            <a:off x="685800" y="1816100"/>
            <a:ext cx="3149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2200" b="1">
                <a:solidFill>
                  <a:srgbClr val="1F6AC9"/>
                </a:solidFill>
                <a:latin typeface="Aptos" panose="020B0004020202020204" pitchFamily="34" charset="0"/>
              </a:rPr>
              <a:t>SimpleRNN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B92DAF-77C2-8091-AEF1-F3A4CBD8F6FD}"/>
              </a:ext>
            </a:extLst>
          </p:cNvPr>
          <p:cNvSpPr txBox="1"/>
          <p:nvPr/>
        </p:nvSpPr>
        <p:spPr>
          <a:xfrm>
            <a:off x="685800" y="2387600"/>
            <a:ext cx="3149600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24292E"/>
                </a:solidFill>
                <a:latin typeface="Aptos" panose="020B0004020202020204" pitchFamily="34" charset="0"/>
              </a:rPr>
              <a:t>Updates one hidden state at each hour. It is compact, but long sequences can weaken the training signal.</a:t>
            </a:r>
            <a:endParaRPr lang="fr-FR" sz="1600">
              <a:solidFill>
                <a:srgbClr val="24292E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D1D17D-CF49-12BD-1F30-CC2C261E6877}"/>
              </a:ext>
            </a:extLst>
          </p:cNvPr>
          <p:cNvSpPr txBox="1"/>
          <p:nvPr/>
        </p:nvSpPr>
        <p:spPr>
          <a:xfrm>
            <a:off x="685800" y="4419600"/>
            <a:ext cx="314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500" b="1">
                <a:solidFill>
                  <a:srgbClr val="666D75"/>
                </a:solidFill>
                <a:latin typeface="Aptos" panose="020B0004020202020204" pitchFamily="34" charset="0"/>
              </a:rPr>
              <a:t>4,353 parameters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4F3A8A-C7DA-4256-B8CD-DC5D19F42D02}"/>
              </a:ext>
            </a:extLst>
          </p:cNvPr>
          <p:cNvSpPr/>
          <p:nvPr/>
        </p:nvSpPr>
        <p:spPr>
          <a:xfrm>
            <a:off x="4064000" y="1752600"/>
            <a:ext cx="12700" cy="3175000"/>
          </a:xfrm>
          <a:prstGeom prst="rect">
            <a:avLst/>
          </a:prstGeom>
          <a:solidFill>
            <a:srgbClr val="D0D8DE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D0D8DE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A3B054-6A01-47B1-6599-6E9108D9EC1E}"/>
              </a:ext>
            </a:extLst>
          </p:cNvPr>
          <p:cNvSpPr txBox="1"/>
          <p:nvPr/>
        </p:nvSpPr>
        <p:spPr>
          <a:xfrm>
            <a:off x="4521200" y="1816100"/>
            <a:ext cx="3149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2200" b="1">
                <a:solidFill>
                  <a:srgbClr val="1F6AC9"/>
                </a:solidFill>
                <a:latin typeface="Aptos" panose="020B0004020202020204" pitchFamily="34" charset="0"/>
              </a:rPr>
              <a:t>LSTM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FAD7E4-A44D-4FED-108E-445052626EB2}"/>
              </a:ext>
            </a:extLst>
          </p:cNvPr>
          <p:cNvSpPr txBox="1"/>
          <p:nvPr/>
        </p:nvSpPr>
        <p:spPr>
          <a:xfrm>
            <a:off x="4521200" y="2387600"/>
            <a:ext cx="31496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24292E"/>
                </a:solidFill>
                <a:latin typeface="Aptos" panose="020B0004020202020204" pitchFamily="34" charset="0"/>
              </a:rPr>
              <a:t>Adds a cell state and gates that control what to remember, update, and expose at each hour.</a:t>
            </a:r>
            <a:endParaRPr lang="fr-FR" sz="1600">
              <a:solidFill>
                <a:srgbClr val="24292E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6BFE75-517F-FF7D-3097-3283C1DB96FB}"/>
              </a:ext>
            </a:extLst>
          </p:cNvPr>
          <p:cNvSpPr txBox="1"/>
          <p:nvPr/>
        </p:nvSpPr>
        <p:spPr>
          <a:xfrm>
            <a:off x="4521200" y="4419600"/>
            <a:ext cx="314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500" b="1">
                <a:solidFill>
                  <a:srgbClr val="666D75"/>
                </a:solidFill>
                <a:latin typeface="Aptos" panose="020B0004020202020204" pitchFamily="34" charset="0"/>
              </a:rPr>
              <a:t>50,497 parameters, univariate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171177-76E5-2025-4225-070F5E1AD0A6}"/>
              </a:ext>
            </a:extLst>
          </p:cNvPr>
          <p:cNvSpPr/>
          <p:nvPr/>
        </p:nvSpPr>
        <p:spPr>
          <a:xfrm>
            <a:off x="7899400" y="1752600"/>
            <a:ext cx="12700" cy="3175000"/>
          </a:xfrm>
          <a:prstGeom prst="rect">
            <a:avLst/>
          </a:prstGeom>
          <a:solidFill>
            <a:srgbClr val="D0D8DE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D0D8DE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3B03C3-4164-8EF9-5D37-32C24E8F96D9}"/>
              </a:ext>
            </a:extLst>
          </p:cNvPr>
          <p:cNvSpPr txBox="1"/>
          <p:nvPr/>
        </p:nvSpPr>
        <p:spPr>
          <a:xfrm>
            <a:off x="8356600" y="1816100"/>
            <a:ext cx="3149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2200" b="1">
                <a:solidFill>
                  <a:srgbClr val="1F6AC9"/>
                </a:solidFill>
                <a:latin typeface="Aptos" panose="020B0004020202020204" pitchFamily="34" charset="0"/>
              </a:rPr>
              <a:t>BiLSTM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C2AAFD-20D9-2C99-17AD-7D8826CD1670}"/>
              </a:ext>
            </a:extLst>
          </p:cNvPr>
          <p:cNvSpPr txBox="1"/>
          <p:nvPr/>
        </p:nvSpPr>
        <p:spPr>
          <a:xfrm>
            <a:off x="8356600" y="2387600"/>
            <a:ext cx="3149600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24292E"/>
                </a:solidFill>
                <a:latin typeface="Aptos" panose="020B0004020202020204" pitchFamily="34" charset="0"/>
              </a:rPr>
              <a:t>Reads the known 24-hour window in both directions, then combines the forward and backward representations.</a:t>
            </a:r>
            <a:endParaRPr lang="fr-FR" sz="1600">
              <a:solidFill>
                <a:srgbClr val="24292E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81A2D7-790E-6302-63FD-24B8C25316AE}"/>
              </a:ext>
            </a:extLst>
          </p:cNvPr>
          <p:cNvSpPr txBox="1"/>
          <p:nvPr/>
        </p:nvSpPr>
        <p:spPr>
          <a:xfrm>
            <a:off x="8356600" y="4419600"/>
            <a:ext cx="314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500" b="1">
                <a:solidFill>
                  <a:srgbClr val="666D75"/>
                </a:solidFill>
                <a:latin typeface="Aptos" panose="020B0004020202020204" pitchFamily="34" charset="0"/>
              </a:rPr>
              <a:t>133,761 parameters, univariate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580645-4416-4606-4344-59481A09AC99}"/>
              </a:ext>
            </a:extLst>
          </p:cNvPr>
          <p:cNvSpPr txBox="1"/>
          <p:nvPr/>
        </p:nvSpPr>
        <p:spPr>
          <a:xfrm>
            <a:off x="685800" y="5334000"/>
            <a:ext cx="10668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31B2B"/>
                </a:solidFill>
                <a:latin typeface="Aptos" panose="020B0004020202020204" pitchFamily="34" charset="0"/>
              </a:rPr>
              <a:t>All models predict one hour ahead. Bidirectional reading does not expose the unseen target because every input hour is already known.</a:t>
            </a:r>
            <a:endParaRPr lang="fr-FR" sz="1500" b="1">
              <a:solidFill>
                <a:srgbClr val="131B2B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CA6EC1-A8BE-6443-B923-D40E654AA6DE}"/>
              </a:ext>
            </a:extLst>
          </p:cNvPr>
          <p:cNvSpPr txBox="1"/>
          <p:nvPr/>
        </p:nvSpPr>
        <p:spPr>
          <a:xfrm>
            <a:off x="685800" y="6400800"/>
            <a:ext cx="355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900">
                <a:solidFill>
                  <a:srgbClr val="666D75"/>
                </a:solidFill>
                <a:latin typeface="Aptos" panose="020B0004020202020204" pitchFamily="34" charset="0"/>
              </a:rPr>
              <a:t>Beijing PM2.5 forecasting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DEB3FD-EEE9-8350-18B2-E43AB49166FE}"/>
              </a:ext>
            </a:extLst>
          </p:cNvPr>
          <p:cNvSpPr txBox="1"/>
          <p:nvPr/>
        </p:nvSpPr>
        <p:spPr>
          <a:xfrm>
            <a:off x="11176000" y="6400800"/>
            <a:ext cx="330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r-FR" sz="900">
                <a:solidFill>
                  <a:srgbClr val="666D75"/>
                </a:solidFill>
                <a:latin typeface="Aptos" panose="020B0004020202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13931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C58CA6-5495-5896-8855-299D899DC35B}"/>
              </a:ext>
            </a:extLst>
          </p:cNvPr>
          <p:cNvSpPr txBox="1"/>
          <p:nvPr/>
        </p:nvSpPr>
        <p:spPr>
          <a:xfrm>
            <a:off x="685800" y="330200"/>
            <a:ext cx="444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100" b="1">
                <a:solidFill>
                  <a:srgbClr val="1F6AC9"/>
                </a:solidFill>
                <a:latin typeface="Aptos" panose="020B0004020202020204" pitchFamily="34" charset="0"/>
              </a:rPr>
              <a:t>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8DFBDE-7DD4-31A4-7EC8-F94936225212}"/>
              </a:ext>
            </a:extLst>
          </p:cNvPr>
          <p:cNvSpPr txBox="1"/>
          <p:nvPr/>
        </p:nvSpPr>
        <p:spPr>
          <a:xfrm>
            <a:off x="685800" y="6350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131B2B"/>
                </a:solidFill>
                <a:latin typeface="Aptos" panose="020B0004020202020204" pitchFamily="34" charset="0"/>
              </a:rPr>
              <a:t>BiLSTM with weather features has the lowest MAE</a:t>
            </a:r>
            <a:endParaRPr lang="fr-FR" sz="3000" b="1">
              <a:solidFill>
                <a:srgbClr val="131B2B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17500F-ED70-E70C-C996-C3A78055EC65}"/>
              </a:ext>
            </a:extLst>
          </p:cNvPr>
          <p:cNvSpPr/>
          <p:nvPr/>
        </p:nvSpPr>
        <p:spPr>
          <a:xfrm>
            <a:off x="685800" y="1320800"/>
            <a:ext cx="10820400" cy="25400"/>
          </a:xfrm>
          <a:prstGeom prst="rect">
            <a:avLst/>
          </a:prstGeom>
          <a:solidFill>
            <a:srgbClr val="1F6AC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F6AC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EC15BA-27E2-4DB0-8093-78391E034A8F}"/>
              </a:ext>
            </a:extLst>
          </p:cNvPr>
          <p:cNvSpPr txBox="1"/>
          <p:nvPr/>
        </p:nvSpPr>
        <p:spPr>
          <a:xfrm>
            <a:off x="736600" y="1866900"/>
            <a:ext cx="1460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r-FR" sz="1200">
                <a:solidFill>
                  <a:srgbClr val="24292E"/>
                </a:solidFill>
                <a:latin typeface="Aptos" panose="020B0004020202020204" pitchFamily="34" charset="0"/>
              </a:rPr>
              <a:t>Naive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AAC9D8-2600-7D14-44DE-7F3BD825C108}"/>
              </a:ext>
            </a:extLst>
          </p:cNvPr>
          <p:cNvSpPr/>
          <p:nvPr/>
        </p:nvSpPr>
        <p:spPr>
          <a:xfrm>
            <a:off x="2324100" y="1892300"/>
            <a:ext cx="5626100" cy="203200"/>
          </a:xfrm>
          <a:prstGeom prst="rect">
            <a:avLst/>
          </a:prstGeom>
          <a:solidFill>
            <a:srgbClr val="E2E9EE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E2E9EE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3B780C-E7FC-3720-B9F7-D996782FA422}"/>
              </a:ext>
            </a:extLst>
          </p:cNvPr>
          <p:cNvSpPr/>
          <p:nvPr/>
        </p:nvSpPr>
        <p:spPr>
          <a:xfrm>
            <a:off x="2324100" y="1892300"/>
            <a:ext cx="4660900" cy="203200"/>
          </a:xfrm>
          <a:prstGeom prst="rect">
            <a:avLst/>
          </a:prstGeom>
          <a:solidFill>
            <a:srgbClr val="1F6AC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F6AC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7411AE-7240-E39B-984D-72013B75E36F}"/>
              </a:ext>
            </a:extLst>
          </p:cNvPr>
          <p:cNvSpPr txBox="1"/>
          <p:nvPr/>
        </p:nvSpPr>
        <p:spPr>
          <a:xfrm>
            <a:off x="7073900" y="1866900"/>
            <a:ext cx="698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100" b="1">
                <a:solidFill>
                  <a:srgbClr val="24292E"/>
                </a:solidFill>
                <a:latin typeface="Aptos" panose="020B0004020202020204" pitchFamily="34" charset="0"/>
              </a:rPr>
              <a:t>12,43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137211-7899-B926-AB21-410EC9160F2F}"/>
              </a:ext>
            </a:extLst>
          </p:cNvPr>
          <p:cNvSpPr txBox="1"/>
          <p:nvPr/>
        </p:nvSpPr>
        <p:spPr>
          <a:xfrm>
            <a:off x="736600" y="2501900"/>
            <a:ext cx="1460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r-FR" sz="1200">
                <a:solidFill>
                  <a:srgbClr val="24292E"/>
                </a:solidFill>
                <a:latin typeface="Aptos" panose="020B0004020202020204" pitchFamily="34" charset="0"/>
              </a:rPr>
              <a:t>SimpleRNN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5CD8FC-F1EE-98A3-B2F8-5099DE5F14CD}"/>
              </a:ext>
            </a:extLst>
          </p:cNvPr>
          <p:cNvSpPr/>
          <p:nvPr/>
        </p:nvSpPr>
        <p:spPr>
          <a:xfrm>
            <a:off x="2324100" y="2527300"/>
            <a:ext cx="5626100" cy="203200"/>
          </a:xfrm>
          <a:prstGeom prst="rect">
            <a:avLst/>
          </a:prstGeom>
          <a:solidFill>
            <a:srgbClr val="E2E9EE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E2E9EE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DFD674-1AE2-FDB8-C552-2E5F31310542}"/>
              </a:ext>
            </a:extLst>
          </p:cNvPr>
          <p:cNvSpPr/>
          <p:nvPr/>
        </p:nvSpPr>
        <p:spPr>
          <a:xfrm>
            <a:off x="2324100" y="2527300"/>
            <a:ext cx="5346700" cy="203200"/>
          </a:xfrm>
          <a:prstGeom prst="rect">
            <a:avLst/>
          </a:prstGeom>
          <a:solidFill>
            <a:srgbClr val="1F6AC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F6AC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A658A1-BB70-E391-F499-D1EB50295EFB}"/>
              </a:ext>
            </a:extLst>
          </p:cNvPr>
          <p:cNvSpPr txBox="1"/>
          <p:nvPr/>
        </p:nvSpPr>
        <p:spPr>
          <a:xfrm>
            <a:off x="7759700" y="2501900"/>
            <a:ext cx="698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100" b="1">
                <a:solidFill>
                  <a:srgbClr val="24292E"/>
                </a:solidFill>
                <a:latin typeface="Aptos" panose="020B0004020202020204" pitchFamily="34" charset="0"/>
              </a:rPr>
              <a:t>14,26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53F6C8-41BB-E780-2968-542EB4F609FC}"/>
              </a:ext>
            </a:extLst>
          </p:cNvPr>
          <p:cNvSpPr txBox="1"/>
          <p:nvPr/>
        </p:nvSpPr>
        <p:spPr>
          <a:xfrm>
            <a:off x="736600" y="3136900"/>
            <a:ext cx="1460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r-FR" sz="1200">
                <a:solidFill>
                  <a:srgbClr val="24292E"/>
                </a:solidFill>
                <a:latin typeface="Aptos" panose="020B0004020202020204" pitchFamily="34" charset="0"/>
              </a:rPr>
              <a:t>LSTM uni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7E4FA6-3D94-FDEF-62A3-5B1E647955A7}"/>
              </a:ext>
            </a:extLst>
          </p:cNvPr>
          <p:cNvSpPr/>
          <p:nvPr/>
        </p:nvSpPr>
        <p:spPr>
          <a:xfrm>
            <a:off x="2324100" y="3162300"/>
            <a:ext cx="5626100" cy="203200"/>
          </a:xfrm>
          <a:prstGeom prst="rect">
            <a:avLst/>
          </a:prstGeom>
          <a:solidFill>
            <a:srgbClr val="E2E9EE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E2E9EE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4F2A09-2AB8-8D80-6FCA-CC8C335292F2}"/>
              </a:ext>
            </a:extLst>
          </p:cNvPr>
          <p:cNvSpPr/>
          <p:nvPr/>
        </p:nvSpPr>
        <p:spPr>
          <a:xfrm>
            <a:off x="2324100" y="3162300"/>
            <a:ext cx="4584700" cy="203200"/>
          </a:xfrm>
          <a:prstGeom prst="rect">
            <a:avLst/>
          </a:prstGeom>
          <a:solidFill>
            <a:srgbClr val="1F6AC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F6AC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9114F0-EF3E-162D-E8F2-818B568A9BC2}"/>
              </a:ext>
            </a:extLst>
          </p:cNvPr>
          <p:cNvSpPr txBox="1"/>
          <p:nvPr/>
        </p:nvSpPr>
        <p:spPr>
          <a:xfrm>
            <a:off x="6997700" y="3136900"/>
            <a:ext cx="698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100" b="1">
                <a:solidFill>
                  <a:srgbClr val="24292E"/>
                </a:solidFill>
                <a:latin typeface="Aptos" panose="020B0004020202020204" pitchFamily="34" charset="0"/>
              </a:rPr>
              <a:t>12,22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13A581-49D9-D944-E3E3-9D2E87CA0FEA}"/>
              </a:ext>
            </a:extLst>
          </p:cNvPr>
          <p:cNvSpPr txBox="1"/>
          <p:nvPr/>
        </p:nvSpPr>
        <p:spPr>
          <a:xfrm>
            <a:off x="736600" y="3771900"/>
            <a:ext cx="1460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r-FR" sz="1200">
                <a:solidFill>
                  <a:srgbClr val="24292E"/>
                </a:solidFill>
                <a:latin typeface="Aptos" panose="020B0004020202020204" pitchFamily="34" charset="0"/>
              </a:rPr>
              <a:t>BiLSTM uni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EC9D7E-84CC-DBF5-66CA-E9B33B4346B7}"/>
              </a:ext>
            </a:extLst>
          </p:cNvPr>
          <p:cNvSpPr/>
          <p:nvPr/>
        </p:nvSpPr>
        <p:spPr>
          <a:xfrm>
            <a:off x="2324100" y="3797300"/>
            <a:ext cx="5626100" cy="203200"/>
          </a:xfrm>
          <a:prstGeom prst="rect">
            <a:avLst/>
          </a:prstGeom>
          <a:solidFill>
            <a:srgbClr val="E2E9EE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E2E9EE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72414B-26DB-38D6-B486-99EFD0FB9189}"/>
              </a:ext>
            </a:extLst>
          </p:cNvPr>
          <p:cNvSpPr/>
          <p:nvPr/>
        </p:nvSpPr>
        <p:spPr>
          <a:xfrm>
            <a:off x="2324100" y="3797300"/>
            <a:ext cx="4724400" cy="203200"/>
          </a:xfrm>
          <a:prstGeom prst="rect">
            <a:avLst/>
          </a:prstGeom>
          <a:solidFill>
            <a:srgbClr val="1F6AC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F6AC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566FA1-42B2-A785-BA78-844969E3148E}"/>
              </a:ext>
            </a:extLst>
          </p:cNvPr>
          <p:cNvSpPr txBox="1"/>
          <p:nvPr/>
        </p:nvSpPr>
        <p:spPr>
          <a:xfrm>
            <a:off x="7137400" y="3771900"/>
            <a:ext cx="698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100" b="1">
                <a:solidFill>
                  <a:srgbClr val="24292E"/>
                </a:solidFill>
                <a:latin typeface="Aptos" panose="020B0004020202020204" pitchFamily="34" charset="0"/>
              </a:rPr>
              <a:t>12,60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85C514-8B89-AC35-96AF-CCED59A78E2F}"/>
              </a:ext>
            </a:extLst>
          </p:cNvPr>
          <p:cNvSpPr txBox="1"/>
          <p:nvPr/>
        </p:nvSpPr>
        <p:spPr>
          <a:xfrm>
            <a:off x="736600" y="4406900"/>
            <a:ext cx="1460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r-FR" sz="1200">
                <a:solidFill>
                  <a:srgbClr val="24292E"/>
                </a:solidFill>
                <a:latin typeface="Aptos" panose="020B0004020202020204" pitchFamily="34" charset="0"/>
              </a:rPr>
              <a:t>LSTM multi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F1E11C-B961-870F-F9EF-B6AD8B2BF4B8}"/>
              </a:ext>
            </a:extLst>
          </p:cNvPr>
          <p:cNvSpPr/>
          <p:nvPr/>
        </p:nvSpPr>
        <p:spPr>
          <a:xfrm>
            <a:off x="2324100" y="4432300"/>
            <a:ext cx="5626100" cy="203200"/>
          </a:xfrm>
          <a:prstGeom prst="rect">
            <a:avLst/>
          </a:prstGeom>
          <a:solidFill>
            <a:srgbClr val="E2E9EE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E2E9EE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329C7F-304E-6D03-35E8-977EEF907068}"/>
              </a:ext>
            </a:extLst>
          </p:cNvPr>
          <p:cNvSpPr/>
          <p:nvPr/>
        </p:nvSpPr>
        <p:spPr>
          <a:xfrm>
            <a:off x="2324100" y="4432300"/>
            <a:ext cx="4648200" cy="203200"/>
          </a:xfrm>
          <a:prstGeom prst="rect">
            <a:avLst/>
          </a:prstGeom>
          <a:solidFill>
            <a:srgbClr val="1F6AC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F6AC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F7E8CD-ADB1-DF47-A1C0-4BC030D0D68E}"/>
              </a:ext>
            </a:extLst>
          </p:cNvPr>
          <p:cNvSpPr txBox="1"/>
          <p:nvPr/>
        </p:nvSpPr>
        <p:spPr>
          <a:xfrm>
            <a:off x="7061200" y="4406900"/>
            <a:ext cx="698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100" b="1">
                <a:solidFill>
                  <a:srgbClr val="24292E"/>
                </a:solidFill>
                <a:latin typeface="Aptos" panose="020B0004020202020204" pitchFamily="34" charset="0"/>
              </a:rPr>
              <a:t>12,38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345A13-64F8-27CA-2B20-2BC896F02F91}"/>
              </a:ext>
            </a:extLst>
          </p:cNvPr>
          <p:cNvSpPr txBox="1"/>
          <p:nvPr/>
        </p:nvSpPr>
        <p:spPr>
          <a:xfrm>
            <a:off x="736600" y="5041900"/>
            <a:ext cx="1460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r-FR" sz="1200">
                <a:solidFill>
                  <a:srgbClr val="24292E"/>
                </a:solidFill>
                <a:latin typeface="Aptos" panose="020B0004020202020204" pitchFamily="34" charset="0"/>
              </a:rPr>
              <a:t>BiLSTM multi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4AAC40F-7229-A9B1-50BD-F0340A29692C}"/>
              </a:ext>
            </a:extLst>
          </p:cNvPr>
          <p:cNvSpPr/>
          <p:nvPr/>
        </p:nvSpPr>
        <p:spPr>
          <a:xfrm>
            <a:off x="2324100" y="5067300"/>
            <a:ext cx="5626100" cy="203200"/>
          </a:xfrm>
          <a:prstGeom prst="rect">
            <a:avLst/>
          </a:prstGeom>
          <a:solidFill>
            <a:srgbClr val="E2E9EE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E2E9EE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654D90-E77E-F547-A6E5-5E91D6EB9EE9}"/>
              </a:ext>
            </a:extLst>
          </p:cNvPr>
          <p:cNvSpPr/>
          <p:nvPr/>
        </p:nvSpPr>
        <p:spPr>
          <a:xfrm>
            <a:off x="2324100" y="5067300"/>
            <a:ext cx="4533900" cy="203200"/>
          </a:xfrm>
          <a:prstGeom prst="rect">
            <a:avLst/>
          </a:prstGeom>
          <a:solidFill>
            <a:srgbClr val="1F6AC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F6AC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30F926-F956-62D5-E289-996BDC75B053}"/>
              </a:ext>
            </a:extLst>
          </p:cNvPr>
          <p:cNvSpPr txBox="1"/>
          <p:nvPr/>
        </p:nvSpPr>
        <p:spPr>
          <a:xfrm>
            <a:off x="6946900" y="5041900"/>
            <a:ext cx="698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100" b="1">
                <a:solidFill>
                  <a:srgbClr val="24292E"/>
                </a:solidFill>
                <a:latin typeface="Aptos" panose="020B0004020202020204" pitchFamily="34" charset="0"/>
              </a:rPr>
              <a:t>12,09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26D332-F18B-DF42-5663-5C32891790DF}"/>
              </a:ext>
            </a:extLst>
          </p:cNvPr>
          <p:cNvSpPr txBox="1"/>
          <p:nvPr/>
        </p:nvSpPr>
        <p:spPr>
          <a:xfrm>
            <a:off x="9144000" y="2057400"/>
            <a:ext cx="2286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2400" b="1">
                <a:solidFill>
                  <a:srgbClr val="DD9A2F"/>
                </a:solidFill>
                <a:latin typeface="Aptos" panose="020B0004020202020204" pitchFamily="34" charset="0"/>
              </a:rPr>
              <a:t>12.09 micrograms/m3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BCCCA6-B8F4-9933-0EB7-E12A067DA9C0}"/>
              </a:ext>
            </a:extLst>
          </p:cNvPr>
          <p:cNvSpPr txBox="1"/>
          <p:nvPr/>
        </p:nvSpPr>
        <p:spPr>
          <a:xfrm>
            <a:off x="9144000" y="2984500"/>
            <a:ext cx="228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400" b="1">
                <a:solidFill>
                  <a:srgbClr val="666D75"/>
                </a:solidFill>
                <a:latin typeface="Aptos" panose="020B0004020202020204" pitchFamily="34" charset="0"/>
              </a:rPr>
              <a:t>Best MAE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DCE26A-32B8-7623-6648-08D95F0C5D6E}"/>
              </a:ext>
            </a:extLst>
          </p:cNvPr>
          <p:cNvSpPr txBox="1"/>
          <p:nvPr/>
        </p:nvSpPr>
        <p:spPr>
          <a:xfrm>
            <a:off x="9144000" y="3492500"/>
            <a:ext cx="2286000" cy="147732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24292E"/>
                </a:solidFill>
                <a:latin typeface="Aptos" panose="020B0004020202020204" pitchFamily="34" charset="0"/>
              </a:rPr>
              <a:t>The gain over the naive forecast is 0.34 micrograms/m3. Model complexity delivers only a small average improvement.</a:t>
            </a:r>
            <a:endParaRPr lang="fr-FR" sz="1600">
              <a:solidFill>
                <a:srgbClr val="24292E"/>
              </a:solidFill>
              <a:latin typeface="Aptos" panose="020B00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B30CC9-B5FF-A509-6B99-D224D9A60AB2}"/>
              </a:ext>
            </a:extLst>
          </p:cNvPr>
          <p:cNvSpPr txBox="1"/>
          <p:nvPr/>
        </p:nvSpPr>
        <p:spPr>
          <a:xfrm>
            <a:off x="685800" y="6400800"/>
            <a:ext cx="355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900">
                <a:solidFill>
                  <a:srgbClr val="666D75"/>
                </a:solidFill>
                <a:latin typeface="Aptos" panose="020B0004020202020204" pitchFamily="34" charset="0"/>
              </a:rPr>
              <a:t>Beijing PM2.5 forecasting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B6A39F-E35F-5B26-E883-ACB846F01528}"/>
              </a:ext>
            </a:extLst>
          </p:cNvPr>
          <p:cNvSpPr txBox="1"/>
          <p:nvPr/>
        </p:nvSpPr>
        <p:spPr>
          <a:xfrm>
            <a:off x="11176000" y="6400800"/>
            <a:ext cx="330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r-FR" sz="900">
                <a:solidFill>
                  <a:srgbClr val="666D75"/>
                </a:solidFill>
                <a:latin typeface="Aptos" panose="020B000402020202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606428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4BF890-BF82-7D09-6A13-C8F4AC801C3F}"/>
              </a:ext>
            </a:extLst>
          </p:cNvPr>
          <p:cNvSpPr txBox="1"/>
          <p:nvPr/>
        </p:nvSpPr>
        <p:spPr>
          <a:xfrm>
            <a:off x="685800" y="330200"/>
            <a:ext cx="444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100" b="1">
                <a:solidFill>
                  <a:srgbClr val="1F6AC9"/>
                </a:solidFill>
                <a:latin typeface="Aptos" panose="020B0004020202020204" pitchFamily="34" charset="0"/>
              </a:rPr>
              <a:t>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13EF4-5D0D-6C7E-6E0D-E3F4ABC74612}"/>
              </a:ext>
            </a:extLst>
          </p:cNvPr>
          <p:cNvSpPr txBox="1"/>
          <p:nvPr/>
        </p:nvSpPr>
        <p:spPr>
          <a:xfrm>
            <a:off x="685800" y="6350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3000" b="1">
                <a:solidFill>
                  <a:srgbClr val="131B2B"/>
                </a:solidFill>
                <a:latin typeface="Aptos" panose="020B0004020202020204" pitchFamily="34" charset="0"/>
              </a:rPr>
              <a:t>Model comparison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88A61E-C962-7221-A578-66567CDC8E33}"/>
              </a:ext>
            </a:extLst>
          </p:cNvPr>
          <p:cNvSpPr/>
          <p:nvPr/>
        </p:nvSpPr>
        <p:spPr>
          <a:xfrm>
            <a:off x="685800" y="1320800"/>
            <a:ext cx="10820400" cy="25400"/>
          </a:xfrm>
          <a:prstGeom prst="rect">
            <a:avLst/>
          </a:prstGeom>
          <a:solidFill>
            <a:srgbClr val="1F6AC9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1F6AC9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93977E-08BE-D228-BAC5-98801F07F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720070"/>
              </p:ext>
            </p:extLst>
          </p:nvPr>
        </p:nvGraphicFramePr>
        <p:xfrm>
          <a:off x="685800" y="1676400"/>
          <a:ext cx="108204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4083904986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58384454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896643397"/>
                    </a:ext>
                  </a:extLst>
                </a:gridCol>
                <a:gridCol w="5232400">
                  <a:extLst>
                    <a:ext uri="{9D8B030D-6E8A-4147-A177-3AD203B41FA5}">
                      <a16:colId xmlns:a16="http://schemas.microsoft.com/office/drawing/2014/main" val="2959472304"/>
                    </a:ext>
                  </a:extLst>
                </a:gridCol>
              </a:tblGrid>
              <a:tr h="544286">
                <a:tc>
                  <a:txBody>
                    <a:bodyPr/>
                    <a:lstStyle/>
                    <a:p>
                      <a:r>
                        <a:rPr lang="fr-FR" sz="14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Model</a:t>
                      </a:r>
                    </a:p>
                  </a:txBody>
                  <a:tcPr>
                    <a:solidFill>
                      <a:srgbClr val="131B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MAE</a:t>
                      </a:r>
                    </a:p>
                  </a:txBody>
                  <a:tcPr>
                    <a:solidFill>
                      <a:srgbClr val="131B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RMSE</a:t>
                      </a:r>
                    </a:p>
                  </a:txBody>
                  <a:tcPr>
                    <a:solidFill>
                      <a:srgbClr val="131B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Interpretation</a:t>
                      </a:r>
                    </a:p>
                  </a:txBody>
                  <a:tcPr>
                    <a:solidFill>
                      <a:srgbClr val="131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859761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lang="fr-FR" sz="1300">
                          <a:solidFill>
                            <a:srgbClr val="24292E"/>
                          </a:solidFill>
                          <a:latin typeface="Aptos" panose="020B0004020202020204" pitchFamily="34" charset="0"/>
                        </a:rPr>
                        <a:t>Naive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300">
                          <a:solidFill>
                            <a:srgbClr val="24292E"/>
                          </a:solidFill>
                          <a:latin typeface="Aptos" panose="020B0004020202020204" pitchFamily="34" charset="0"/>
                        </a:rPr>
                        <a:t>12.43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300">
                          <a:solidFill>
                            <a:srgbClr val="24292E"/>
                          </a:solidFill>
                          <a:latin typeface="Aptos" panose="020B0004020202020204" pitchFamily="34" charset="0"/>
                        </a:rPr>
                        <a:t>24.53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300">
                          <a:solidFill>
                            <a:srgbClr val="24292E"/>
                          </a:solidFill>
                          <a:latin typeface="Aptos" panose="020B0004020202020204" pitchFamily="34" charset="0"/>
                        </a:rPr>
                        <a:t>Strong persistence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595738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lang="fr-FR" sz="1300">
                          <a:solidFill>
                            <a:srgbClr val="24292E"/>
                          </a:solidFill>
                          <a:latin typeface="Aptos" panose="020B0004020202020204" pitchFamily="34" charset="0"/>
                        </a:rPr>
                        <a:t>SimpleRNN</a:t>
                      </a:r>
                    </a:p>
                  </a:txBody>
                  <a:tcPr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300">
                          <a:solidFill>
                            <a:srgbClr val="24292E"/>
                          </a:solidFill>
                          <a:latin typeface="Aptos" panose="020B0004020202020204" pitchFamily="34" charset="0"/>
                        </a:rPr>
                        <a:t>14.26</a:t>
                      </a:r>
                    </a:p>
                  </a:txBody>
                  <a:tcPr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300">
                          <a:solidFill>
                            <a:srgbClr val="24292E"/>
                          </a:solidFill>
                          <a:latin typeface="Aptos" panose="020B0004020202020204" pitchFamily="34" charset="0"/>
                        </a:rPr>
                        <a:t>25.34</a:t>
                      </a:r>
                    </a:p>
                  </a:txBody>
                  <a:tcPr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300">
                          <a:solidFill>
                            <a:srgbClr val="24292E"/>
                          </a:solidFill>
                          <a:latin typeface="Aptos" panose="020B0004020202020204" pitchFamily="34" charset="0"/>
                        </a:rPr>
                        <a:t>Worse than baseline</a:t>
                      </a:r>
                    </a:p>
                  </a:txBody>
                  <a:tcPr>
                    <a:solidFill>
                      <a:srgbClr val="EB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916028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lang="fr-FR" sz="1300">
                          <a:solidFill>
                            <a:srgbClr val="24292E"/>
                          </a:solidFill>
                          <a:latin typeface="Aptos" panose="020B0004020202020204" pitchFamily="34" charset="0"/>
                        </a:rPr>
                        <a:t>LSTM univariate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300">
                          <a:solidFill>
                            <a:srgbClr val="24292E"/>
                          </a:solidFill>
                          <a:latin typeface="Aptos" panose="020B0004020202020204" pitchFamily="34" charset="0"/>
                        </a:rPr>
                        <a:t>12.22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300">
                          <a:solidFill>
                            <a:srgbClr val="24292E"/>
                          </a:solidFill>
                          <a:latin typeface="Aptos" panose="020B0004020202020204" pitchFamily="34" charset="0"/>
                        </a:rPr>
                        <a:t>23.44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300">
                          <a:solidFill>
                            <a:srgbClr val="24292E"/>
                          </a:solidFill>
                          <a:latin typeface="Aptos" panose="020B0004020202020204" pitchFamily="34" charset="0"/>
                        </a:rPr>
                        <a:t>Best univariate balance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313609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lang="fr-FR" sz="1300">
                          <a:solidFill>
                            <a:srgbClr val="24292E"/>
                          </a:solidFill>
                          <a:latin typeface="Aptos" panose="020B0004020202020204" pitchFamily="34" charset="0"/>
                        </a:rPr>
                        <a:t>BiLSTM univariate</a:t>
                      </a:r>
                    </a:p>
                  </a:txBody>
                  <a:tcPr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300">
                          <a:solidFill>
                            <a:srgbClr val="24292E"/>
                          </a:solidFill>
                          <a:latin typeface="Aptos" panose="020B0004020202020204" pitchFamily="34" charset="0"/>
                        </a:rPr>
                        <a:t>12.60</a:t>
                      </a:r>
                    </a:p>
                  </a:txBody>
                  <a:tcPr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300">
                          <a:solidFill>
                            <a:srgbClr val="24292E"/>
                          </a:solidFill>
                          <a:latin typeface="Aptos" panose="020B0004020202020204" pitchFamily="34" charset="0"/>
                        </a:rPr>
                        <a:t>23.62</a:t>
                      </a:r>
                    </a:p>
                  </a:txBody>
                  <a:tcPr>
                    <a:solidFill>
                      <a:srgbClr val="EB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rgbClr val="24292E"/>
                          </a:solidFill>
                          <a:latin typeface="Aptos" panose="020B0004020202020204" pitchFamily="34" charset="0"/>
                        </a:rPr>
                        <a:t>RMSE improves, MAE does not</a:t>
                      </a:r>
                      <a:endParaRPr lang="fr-FR" sz="1300">
                        <a:solidFill>
                          <a:srgbClr val="24292E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EB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452496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lang="fr-FR" sz="1300">
                          <a:solidFill>
                            <a:srgbClr val="24292E"/>
                          </a:solidFill>
                          <a:latin typeface="Aptos" panose="020B0004020202020204" pitchFamily="34" charset="0"/>
                        </a:rPr>
                        <a:t>LSTM multivariate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300">
                          <a:solidFill>
                            <a:srgbClr val="24292E"/>
                          </a:solidFill>
                          <a:latin typeface="Aptos" panose="020B0004020202020204" pitchFamily="34" charset="0"/>
                        </a:rPr>
                        <a:t>12.38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300">
                          <a:solidFill>
                            <a:srgbClr val="24292E"/>
                          </a:solidFill>
                          <a:latin typeface="Aptos" panose="020B0004020202020204" pitchFamily="34" charset="0"/>
                        </a:rPr>
                        <a:t>23.20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300">
                          <a:solidFill>
                            <a:srgbClr val="24292E"/>
                          </a:solidFill>
                          <a:latin typeface="Aptos" panose="020B0004020202020204" pitchFamily="34" charset="0"/>
                        </a:rPr>
                        <a:t>Lowest RMSE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477555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lang="fr-FR" sz="1300">
                          <a:solidFill>
                            <a:srgbClr val="24292E"/>
                          </a:solidFill>
                          <a:latin typeface="Aptos" panose="020B0004020202020204" pitchFamily="34" charset="0"/>
                        </a:rPr>
                        <a:t>BiLSTM multivariate</a:t>
                      </a:r>
                    </a:p>
                  </a:txBody>
                  <a:tcPr>
                    <a:solidFill>
                      <a:srgbClr val="D3E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300">
                          <a:solidFill>
                            <a:srgbClr val="24292E"/>
                          </a:solidFill>
                          <a:latin typeface="Aptos" panose="020B0004020202020204" pitchFamily="34" charset="0"/>
                        </a:rPr>
                        <a:t>12.09</a:t>
                      </a:r>
                    </a:p>
                  </a:txBody>
                  <a:tcPr>
                    <a:solidFill>
                      <a:srgbClr val="D3E8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300">
                          <a:solidFill>
                            <a:srgbClr val="24292E"/>
                          </a:solidFill>
                          <a:latin typeface="Aptos" panose="020B0004020202020204" pitchFamily="34" charset="0"/>
                        </a:rPr>
                        <a:t>23.54</a:t>
                      </a:r>
                    </a:p>
                  </a:txBody>
                  <a:tcPr>
                    <a:solidFill>
                      <a:srgbClr val="D3E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300">
                          <a:solidFill>
                            <a:srgbClr val="24292E"/>
                          </a:solidFill>
                          <a:latin typeface="Aptos" panose="020B0004020202020204" pitchFamily="34" charset="0"/>
                        </a:rPr>
                        <a:t>Lowest MAE</a:t>
                      </a:r>
                    </a:p>
                  </a:txBody>
                  <a:tcPr>
                    <a:solidFill>
                      <a:srgbClr val="D3E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40921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AB2C63E-28E2-6C13-C4BD-F65EACCC0027}"/>
              </a:ext>
            </a:extLst>
          </p:cNvPr>
          <p:cNvSpPr txBox="1"/>
          <p:nvPr/>
        </p:nvSpPr>
        <p:spPr>
          <a:xfrm>
            <a:off x="685800" y="5727700"/>
            <a:ext cx="635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666D75"/>
                </a:solidFill>
                <a:latin typeface="Aptos" panose="020B0004020202020204" pitchFamily="34" charset="0"/>
              </a:rPr>
              <a:t>MAE and RMSE in micrograms/m3. Lower values are better.</a:t>
            </a:r>
            <a:endParaRPr lang="fr-FR" sz="1300">
              <a:solidFill>
                <a:srgbClr val="666D75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DF6103-76CC-35D5-0F9C-E613DDBC56A2}"/>
              </a:ext>
            </a:extLst>
          </p:cNvPr>
          <p:cNvSpPr txBox="1"/>
          <p:nvPr/>
        </p:nvSpPr>
        <p:spPr>
          <a:xfrm>
            <a:off x="685800" y="6400800"/>
            <a:ext cx="355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900">
                <a:solidFill>
                  <a:srgbClr val="666D75"/>
                </a:solidFill>
                <a:latin typeface="Aptos" panose="020B0004020202020204" pitchFamily="34" charset="0"/>
              </a:rPr>
              <a:t>Beijing PM2.5 forecasting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B92576-E62A-C696-0026-4D6F0ABE6C6F}"/>
              </a:ext>
            </a:extLst>
          </p:cNvPr>
          <p:cNvSpPr txBox="1"/>
          <p:nvPr/>
        </p:nvSpPr>
        <p:spPr>
          <a:xfrm>
            <a:off x="11176000" y="6400800"/>
            <a:ext cx="330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r-FR" sz="900">
                <a:solidFill>
                  <a:srgbClr val="666D75"/>
                </a:solidFill>
                <a:latin typeface="Aptos" panose="020B00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60536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8AD8E1-9ED6-E012-5DD6-D353A0DB3531}"/>
              </a:ext>
            </a:extLst>
          </p:cNvPr>
          <p:cNvSpPr txBox="1"/>
          <p:nvPr/>
        </p:nvSpPr>
        <p:spPr>
          <a:xfrm>
            <a:off x="736600" y="660400"/>
            <a:ext cx="8890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3200" b="1">
                <a:solidFill>
                  <a:srgbClr val="FFFFFF"/>
                </a:solidFill>
                <a:latin typeface="Aptos" panose="020B0004020202020204" pitchFamily="34" charset="0"/>
              </a:rPr>
              <a:t>Conclusions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44B323-DD7B-0F0B-77D6-A6A49BD2289B}"/>
              </a:ext>
            </a:extLst>
          </p:cNvPr>
          <p:cNvSpPr txBox="1"/>
          <p:nvPr/>
        </p:nvSpPr>
        <p:spPr>
          <a:xfrm>
            <a:off x="736600" y="1803400"/>
            <a:ext cx="965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b="1">
                <a:solidFill>
                  <a:srgbClr val="FFFFFF"/>
                </a:solidFill>
                <a:latin typeface="Aptos" panose="020B0004020202020204" pitchFamily="34" charset="0"/>
              </a:rPr>
              <a:t>The 24-hour pollution history carries most of the predictive signal.</a:t>
            </a:r>
            <a:endParaRPr lang="fr-FR" sz="2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DC4330-EAB2-F1C9-291A-5EF4F65ED355}"/>
              </a:ext>
            </a:extLst>
          </p:cNvPr>
          <p:cNvSpPr txBox="1"/>
          <p:nvPr/>
        </p:nvSpPr>
        <p:spPr>
          <a:xfrm>
            <a:off x="736600" y="2667000"/>
            <a:ext cx="9652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CED7DF"/>
                </a:solidFill>
                <a:latin typeface="Aptos" panose="020B0004020202020204" pitchFamily="34" charset="0"/>
              </a:rPr>
              <a:t>LSTM improves both MAE and RMSE over SimpleRNN. Weather features help reduce some large errors, reflected in the multivariate LSTM model with the lowest RMSE.</a:t>
            </a:r>
            <a:endParaRPr lang="fr-FR" sz="1700">
              <a:solidFill>
                <a:srgbClr val="CED7DF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BEAFC-60B9-5839-9CB8-79988A5EB222}"/>
              </a:ext>
            </a:extLst>
          </p:cNvPr>
          <p:cNvSpPr txBox="1"/>
          <p:nvPr/>
        </p:nvSpPr>
        <p:spPr>
          <a:xfrm>
            <a:off x="736600" y="3987800"/>
            <a:ext cx="9652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CED7DF"/>
                </a:solidFill>
                <a:latin typeface="Aptos" panose="020B0004020202020204" pitchFamily="34" charset="0"/>
              </a:rPr>
              <a:t>BiLSTM multivariate achieves the lowest MAE, but the advantage over the naive forecast is small. Deep learning must therefore be judged against the persistence baseline.</a:t>
            </a:r>
            <a:endParaRPr lang="fr-FR" sz="1700">
              <a:solidFill>
                <a:srgbClr val="CED7D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D09D4F-611B-3D64-9725-DB7EC32A215B}"/>
              </a:ext>
            </a:extLst>
          </p:cNvPr>
          <p:cNvSpPr txBox="1"/>
          <p:nvPr/>
        </p:nvSpPr>
        <p:spPr>
          <a:xfrm>
            <a:off x="736600" y="5626100"/>
            <a:ext cx="990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DD9A2F"/>
                </a:solidFill>
                <a:latin typeface="Aptos" panose="020B0004020202020204" pitchFamily="34" charset="0"/>
              </a:rPr>
              <a:t>Limitations: one chronological split, no validation period, and larger errors during high-pollution spikes.</a:t>
            </a:r>
            <a:endParaRPr lang="fr-FR" sz="1400" b="1">
              <a:solidFill>
                <a:srgbClr val="DD9A2F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619EC0-F37A-3C41-3443-100A44322A94}"/>
              </a:ext>
            </a:extLst>
          </p:cNvPr>
          <p:cNvSpPr txBox="1"/>
          <p:nvPr/>
        </p:nvSpPr>
        <p:spPr>
          <a:xfrm>
            <a:off x="11176000" y="6400800"/>
            <a:ext cx="330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r-FR" sz="900">
                <a:solidFill>
                  <a:srgbClr val="959FA9"/>
                </a:solidFill>
                <a:latin typeface="Aptos" panose="020B00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470345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727</Words>
  <Application>Microsoft Office PowerPoint</Application>
  <PresentationFormat>Custom</PresentationFormat>
  <Paragraphs>184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chat gpt</dc:creator>
  <cp:lastModifiedBy>chat gpt</cp:lastModifiedBy>
  <cp:revision>1</cp:revision>
  <dcterms:created xsi:type="dcterms:W3CDTF">2026-10-16T19:54:50Z</dcterms:created>
  <dcterms:modified xsi:type="dcterms:W3CDTF">2026-10-16T19:54:50Z</dcterms:modified>
</cp:coreProperties>
</file>